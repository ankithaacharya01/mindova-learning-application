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8288000" cy="10287000"/>
  <p:notesSz cx="6858000" cy="9144000"/>
  <p:embeddedFontLst>
    <p:embeddedFont>
      <p:font typeface="Times New Roman Bold" panose="02020803070505020304" pitchFamily="18" charset="0"/>
      <p:regular r:id="rId30"/>
      <p:bold r:id="rId31"/>
    </p:embeddedFont>
    <p:embeddedFont>
      <p:font typeface="Trebuchet MS" panose="020B0603020202020204" pitchFamily="34" charset="0"/>
      <p:regular r:id="rId32"/>
      <p:bold r:id="rId33"/>
      <p:italic r:id="rId34"/>
      <p:boldItalic r:id="rId35"/>
    </p:embeddedFont>
    <p:embeddedFont>
      <p:font typeface="Wingdings 3" panose="05040102010807070707" pitchFamily="18" charset="2"/>
      <p:regular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12700"/>
            <a:ext cx="18288000" cy="10299701"/>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2260601" y="3606801"/>
            <a:ext cx="11650404" cy="2469453"/>
          </a:xfrm>
        </p:spPr>
        <p:txBody>
          <a:bodyPr anchor="b">
            <a:noAutofit/>
          </a:bodyPr>
          <a:lstStyle>
            <a:lvl1pPr algn="r">
              <a:defRPr sz="81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260601" y="6076250"/>
            <a:ext cx="11650404" cy="1645349"/>
          </a:xfrm>
        </p:spPr>
        <p:txBody>
          <a:bodyPr anchor="t"/>
          <a:lstStyle>
            <a:lvl1pPr marL="0" indent="0" algn="r">
              <a:buNone/>
              <a:defRPr>
                <a:solidFill>
                  <a:schemeClr val="tx1">
                    <a:lumMod val="50000"/>
                    <a:lumOff val="5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3024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72317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6003" y="4051301"/>
            <a:ext cx="12895002" cy="2739872"/>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1290600"/>
          </a:xfrm>
        </p:spPr>
        <p:txBody>
          <a:bodyPr anchor="t"/>
          <a:lstStyle>
            <a:lvl1pPr marL="0" indent="0" algn="l">
              <a:buNone/>
              <a:defRPr sz="30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44420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6002" y="3240884"/>
            <a:ext cx="6276053" cy="5821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34955" y="3240884"/>
            <a:ext cx="6276051" cy="5821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5503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3618" y="3241475"/>
            <a:ext cx="6278435"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013618" y="4105868"/>
            <a:ext cx="6278435"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32575" y="3241475"/>
            <a:ext cx="6278427"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7632577" y="4105868"/>
            <a:ext cx="6278426"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52847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16001" y="914400"/>
            <a:ext cx="12895002" cy="19812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65032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10649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1" y="2247906"/>
            <a:ext cx="5781792" cy="1917699"/>
          </a:xfrm>
        </p:spPr>
        <p:txBody>
          <a:bodyPr anchor="b">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7140692" y="772387"/>
            <a:ext cx="6770312" cy="82896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16001" y="4165604"/>
            <a:ext cx="5781792" cy="3876674"/>
          </a:xfrm>
        </p:spPr>
        <p:txBody>
          <a:bodyPr>
            <a:normAutofit/>
          </a:bodyPr>
          <a:lstStyle>
            <a:lvl1pPr marL="0" indent="0">
              <a:buNone/>
              <a:defRPr sz="2100"/>
            </a:lvl1pPr>
            <a:lvl2pPr marL="685595" indent="0">
              <a:buNone/>
              <a:defRPr sz="2100"/>
            </a:lvl2pPr>
            <a:lvl3pPr marL="1371189" indent="0">
              <a:buNone/>
              <a:defRPr sz="1800"/>
            </a:lvl3pPr>
            <a:lvl4pPr marL="2056784" indent="0">
              <a:buNone/>
              <a:defRPr sz="1500"/>
            </a:lvl4pPr>
            <a:lvl5pPr marL="2742377" indent="0">
              <a:buNone/>
              <a:defRPr sz="1500"/>
            </a:lvl5pPr>
            <a:lvl6pPr marL="3427971" indent="0">
              <a:buNone/>
              <a:defRPr sz="1500"/>
            </a:lvl6pPr>
            <a:lvl7pPr marL="4113566" indent="0">
              <a:buNone/>
              <a:defRPr sz="1500"/>
            </a:lvl7pPr>
            <a:lvl8pPr marL="4799160" indent="0">
              <a:buNone/>
              <a:defRPr sz="1500"/>
            </a:lvl8pPr>
            <a:lvl9pPr marL="5484755"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5994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2" y="7200900"/>
            <a:ext cx="12895001"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16001" y="914400"/>
            <a:ext cx="12895002" cy="5768577"/>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16002" y="8051007"/>
            <a:ext cx="12895001" cy="1011036"/>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Tree>
    <p:extLst>
      <p:ext uri="{BB962C8B-B14F-4D97-AF65-F5344CB8AC3E}">
        <p14:creationId xmlns:p14="http://schemas.microsoft.com/office/powerpoint/2010/main" val="3271584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3" y="914400"/>
            <a:ext cx="12895002" cy="5105400"/>
          </a:xfrm>
        </p:spPr>
        <p:txBody>
          <a:bodyPr anchor="ctr">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6844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2049209" y="5448300"/>
            <a:ext cx="10836786"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598950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016003" y="2897982"/>
            <a:ext cx="12895002" cy="3893190"/>
          </a:xfrm>
        </p:spPr>
        <p:txBody>
          <a:bodyPr anchor="b">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03910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tx1">
                    <a:lumMod val="75000"/>
                    <a:lumOff val="25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78484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028699" y="914400"/>
            <a:ext cx="12882305"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207093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43252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951510" y="914399"/>
            <a:ext cx="1957115" cy="787717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016003" y="914400"/>
            <a:ext cx="10590225" cy="787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3310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12700"/>
            <a:ext cx="18288000" cy="10299701"/>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016001" y="914400"/>
            <a:ext cx="12895002" cy="19812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16001" y="3240884"/>
            <a:ext cx="12895002" cy="5821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807700" y="9062044"/>
            <a:ext cx="1367909" cy="547688"/>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pPr/>
              <a:t>5/26/2026</a:t>
            </a:fld>
            <a:endParaRPr lang="en-US"/>
          </a:p>
        </p:txBody>
      </p:sp>
      <p:sp>
        <p:nvSpPr>
          <p:cNvPr id="5" name="Footer Placeholder 4"/>
          <p:cNvSpPr>
            <a:spLocks noGrp="1"/>
          </p:cNvSpPr>
          <p:nvPr>
            <p:ph type="ftr" sz="quarter" idx="3"/>
          </p:nvPr>
        </p:nvSpPr>
        <p:spPr>
          <a:xfrm>
            <a:off x="1016001" y="9062044"/>
            <a:ext cx="9446418"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885995" y="9062044"/>
            <a:ext cx="1025009" cy="547688"/>
          </a:xfrm>
          <a:prstGeom prst="rect">
            <a:avLst/>
          </a:prstGeom>
        </p:spPr>
        <p:txBody>
          <a:bodyPr vert="horz" lIns="91440" tIns="45720" rIns="91440" bIns="45720" rtlCol="0" anchor="ctr"/>
          <a:lstStyle>
            <a:lvl1pPr algn="r">
              <a:defRPr sz="135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79228757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6858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hyperlink" Target="https://vercel.com/ankitha-acharyas-projects1/mindova-learning-application/DCEkuxPDrEMfqvLak6cXShDoveSK" TargetMode="Externa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hyperlink" Target="https://developer.mozilla.org/?utm_source=chatgpt.com" TargetMode="External"/><Relationship Id="rId3" Type="http://schemas.openxmlformats.org/officeDocument/2006/relationships/hyperlink" Target="https://nodejs.org/?utm_source=chatgpt.com" TargetMode="External"/><Relationship Id="rId7" Type="http://schemas.openxmlformats.org/officeDocument/2006/relationships/hyperlink" Target="https://jwt.io/?utm_source=chatgpt.com" TargetMode="External"/><Relationship Id="rId2" Type="http://schemas.openxmlformats.org/officeDocument/2006/relationships/hyperlink" Target="https://react.dev/?utm_source=chatgpt.com" TargetMode="External"/><Relationship Id="rId1" Type="http://schemas.openxmlformats.org/officeDocument/2006/relationships/slideLayout" Target="../slideLayouts/slideLayout7.xml"/><Relationship Id="rId6" Type="http://schemas.openxmlformats.org/officeDocument/2006/relationships/hyperlink" Target="https://tailwindcss.com/?utm_source=chatgpt.com" TargetMode="External"/><Relationship Id="rId11" Type="http://schemas.openxmlformats.org/officeDocument/2006/relationships/hyperlink" Target="https://render.com/?utm_source=chatgpt.com" TargetMode="External"/><Relationship Id="rId5" Type="http://schemas.openxmlformats.org/officeDocument/2006/relationships/hyperlink" Target="https://www.mongodb.com/docs?utm_source=chatgpt.com" TargetMode="External"/><Relationship Id="rId10" Type="http://schemas.openxmlformats.org/officeDocument/2006/relationships/hyperlink" Target="https://vercel.com/?utm_source=chatgpt.com" TargetMode="External"/><Relationship Id="rId4" Type="http://schemas.openxmlformats.org/officeDocument/2006/relationships/hyperlink" Target="https://expressjs.com/?utm_source=chatgpt.com" TargetMode="External"/><Relationship Id="rId9" Type="http://schemas.openxmlformats.org/officeDocument/2006/relationships/hyperlink" Target="https://www.w3schools.com/?utm_source=chatgpt.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6575707" y="569762"/>
            <a:ext cx="3802891" cy="845368"/>
          </a:xfrm>
          <a:custGeom>
            <a:avLst/>
            <a:gdLst/>
            <a:ahLst/>
            <a:cxnLst/>
            <a:rect l="l" t="t" r="r" b="b"/>
            <a:pathLst>
              <a:path w="3802891" h="845368">
                <a:moveTo>
                  <a:pt x="0" y="0"/>
                </a:moveTo>
                <a:lnTo>
                  <a:pt x="3802890" y="0"/>
                </a:lnTo>
                <a:lnTo>
                  <a:pt x="3802890" y="845367"/>
                </a:lnTo>
                <a:lnTo>
                  <a:pt x="0" y="845367"/>
                </a:lnTo>
                <a:lnTo>
                  <a:pt x="0" y="0"/>
                </a:lnTo>
                <a:close/>
              </a:path>
            </a:pathLst>
          </a:custGeom>
          <a:blipFill>
            <a:blip r:embed="rId2"/>
            <a:stretch>
              <a:fillRect t="-4898" b="-4898"/>
            </a:stretch>
          </a:blipFill>
        </p:spPr>
        <p:txBody>
          <a:bodyPr/>
          <a:lstStyle/>
          <a:p>
            <a:endParaRPr lang="en-IN"/>
          </a:p>
        </p:txBody>
      </p:sp>
      <p:sp>
        <p:nvSpPr>
          <p:cNvPr id="3" name="TextBox 3"/>
          <p:cNvSpPr txBox="1"/>
          <p:nvPr/>
        </p:nvSpPr>
        <p:spPr>
          <a:xfrm>
            <a:off x="237100" y="1602982"/>
            <a:ext cx="17767821" cy="17995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Department of Computer Science and Engineering </a:t>
            </a:r>
          </a:p>
          <a:p>
            <a:pPr algn="ctr">
              <a:lnSpc>
                <a:spcPts val="4759"/>
              </a:lnSpc>
              <a:spcBef>
                <a:spcPct val="0"/>
              </a:spcBef>
            </a:pPr>
            <a:r>
              <a:rPr lang="en-US" sz="3399">
                <a:solidFill>
                  <a:srgbClr val="000000"/>
                </a:solidFill>
                <a:latin typeface="Times New Roman"/>
                <a:ea typeface="Times New Roman"/>
                <a:cs typeface="Times New Roman"/>
                <a:sym typeface="Times New Roman"/>
              </a:rPr>
              <a:t>TG </a:t>
            </a:r>
          </a:p>
          <a:p>
            <a:pPr algn="ctr">
              <a:lnSpc>
                <a:spcPts val="4759"/>
              </a:lnSpc>
              <a:spcBef>
                <a:spcPct val="0"/>
              </a:spcBef>
            </a:pPr>
            <a:r>
              <a:rPr lang="en-US" sz="3399">
                <a:solidFill>
                  <a:srgbClr val="000000"/>
                </a:solidFill>
                <a:latin typeface="Times New Roman"/>
                <a:ea typeface="Times New Roman"/>
                <a:cs typeface="Times New Roman"/>
                <a:sym typeface="Times New Roman"/>
              </a:rPr>
              <a:t>BANGALORE</a:t>
            </a:r>
          </a:p>
        </p:txBody>
      </p:sp>
      <p:sp>
        <p:nvSpPr>
          <p:cNvPr id="4" name="TextBox 4"/>
          <p:cNvSpPr txBox="1"/>
          <p:nvPr/>
        </p:nvSpPr>
        <p:spPr>
          <a:xfrm>
            <a:off x="237100" y="4500880"/>
            <a:ext cx="18050900" cy="1199515"/>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MAJOR PROJECT </a:t>
            </a:r>
          </a:p>
          <a:p>
            <a:pPr algn="ctr">
              <a:lnSpc>
                <a:spcPts val="4759"/>
              </a:lnSpc>
              <a:spcBef>
                <a:spcPct val="0"/>
              </a:spcBef>
            </a:pPr>
            <a:r>
              <a:rPr lang="en-US" sz="3399">
                <a:solidFill>
                  <a:srgbClr val="000000"/>
                </a:solidFill>
                <a:latin typeface="Times New Roman"/>
                <a:ea typeface="Times New Roman"/>
                <a:cs typeface="Times New Roman"/>
                <a:sym typeface="Times New Roman"/>
              </a:rPr>
              <a:t>MINDOVA ONLINE LEARNING PLATFORM</a:t>
            </a:r>
          </a:p>
        </p:txBody>
      </p:sp>
      <p:sp>
        <p:nvSpPr>
          <p:cNvPr id="5" name="TextBox 5"/>
          <p:cNvSpPr txBox="1"/>
          <p:nvPr/>
        </p:nvSpPr>
        <p:spPr>
          <a:xfrm>
            <a:off x="1028700" y="7283828"/>
            <a:ext cx="5922764" cy="59944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Ankitha Acharya (TG02WD0265)</a:t>
            </a:r>
          </a:p>
        </p:txBody>
      </p:sp>
      <p:sp>
        <p:nvSpPr>
          <p:cNvPr id="6" name="TextBox 6"/>
          <p:cNvSpPr txBox="1"/>
          <p:nvPr/>
        </p:nvSpPr>
        <p:spPr>
          <a:xfrm>
            <a:off x="12877800" y="7283828"/>
            <a:ext cx="3611659" cy="563809"/>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Times New Roman"/>
                <a:ea typeface="Times New Roman"/>
                <a:cs typeface="Times New Roman"/>
                <a:sym typeface="Times New Roman"/>
              </a:rPr>
              <a:t>Guide:Mr.Likhith</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254482" y="277936"/>
            <a:ext cx="10821703" cy="8695309"/>
          </a:xfrm>
          <a:prstGeom prst="rect">
            <a:avLst/>
          </a:prstGeom>
        </p:spPr>
        <p:txBody>
          <a:bodyPr lIns="0" tIns="0" rIns="0" bIns="0" rtlCol="0" anchor="t">
            <a:spAutoFit/>
          </a:bodyPr>
          <a:lstStyle/>
          <a:p>
            <a:pPr algn="just">
              <a:lnSpc>
                <a:spcPts val="3667"/>
              </a:lnSpc>
            </a:pPr>
            <a:r>
              <a:rPr lang="en-US" sz="2799" spc="221" dirty="0">
                <a:solidFill>
                  <a:srgbClr val="000000"/>
                </a:solidFill>
                <a:latin typeface="Times New Roman"/>
                <a:ea typeface="Times New Roman"/>
                <a:cs typeface="Times New Roman"/>
                <a:sym typeface="Times New Roman"/>
              </a:rPr>
              <a:t>•Abstract</a:t>
            </a:r>
          </a:p>
          <a:p>
            <a:pPr algn="just">
              <a:lnSpc>
                <a:spcPts val="3667"/>
              </a:lnSpc>
            </a:pPr>
            <a:r>
              <a:rPr lang="en-US" sz="2799" spc="221" dirty="0">
                <a:solidFill>
                  <a:srgbClr val="000000"/>
                </a:solidFill>
                <a:latin typeface="Times New Roman"/>
                <a:ea typeface="Times New Roman"/>
                <a:cs typeface="Times New Roman"/>
                <a:sym typeface="Times New Roman"/>
              </a:rPr>
              <a:t>•Introduction </a:t>
            </a:r>
          </a:p>
          <a:p>
            <a:pPr algn="just">
              <a:lnSpc>
                <a:spcPts val="3667"/>
              </a:lnSpc>
            </a:pPr>
            <a:r>
              <a:rPr lang="en-US" sz="2799" spc="221" dirty="0">
                <a:solidFill>
                  <a:srgbClr val="000000"/>
                </a:solidFill>
                <a:latin typeface="Times New Roman"/>
                <a:ea typeface="Times New Roman"/>
                <a:cs typeface="Times New Roman"/>
                <a:sym typeface="Times New Roman"/>
              </a:rPr>
              <a:t>•Objective </a:t>
            </a:r>
          </a:p>
          <a:p>
            <a:pPr algn="just">
              <a:lnSpc>
                <a:spcPts val="3667"/>
              </a:lnSpc>
            </a:pPr>
            <a:r>
              <a:rPr lang="en-US" sz="2799" spc="221" dirty="0">
                <a:solidFill>
                  <a:srgbClr val="000000"/>
                </a:solidFill>
                <a:latin typeface="Times New Roman"/>
                <a:ea typeface="Times New Roman"/>
                <a:cs typeface="Times New Roman"/>
                <a:sym typeface="Times New Roman"/>
              </a:rPr>
              <a:t>•Problem Definition</a:t>
            </a:r>
          </a:p>
          <a:p>
            <a:pPr algn="just">
              <a:lnSpc>
                <a:spcPts val="3667"/>
              </a:lnSpc>
            </a:pPr>
            <a:r>
              <a:rPr lang="en-US" sz="2799" spc="221" dirty="0">
                <a:solidFill>
                  <a:srgbClr val="000000"/>
                </a:solidFill>
                <a:latin typeface="Times New Roman"/>
                <a:ea typeface="Times New Roman"/>
                <a:cs typeface="Times New Roman"/>
                <a:sym typeface="Times New Roman"/>
              </a:rPr>
              <a:t>•Scope </a:t>
            </a:r>
          </a:p>
          <a:p>
            <a:pPr algn="just">
              <a:lnSpc>
                <a:spcPts val="3667"/>
              </a:lnSpc>
            </a:pPr>
            <a:r>
              <a:rPr lang="en-US" sz="2799" spc="221" dirty="0">
                <a:solidFill>
                  <a:srgbClr val="000000"/>
                </a:solidFill>
                <a:latin typeface="Times New Roman"/>
                <a:ea typeface="Times New Roman"/>
                <a:cs typeface="Times New Roman"/>
                <a:sym typeface="Times New Roman"/>
              </a:rPr>
              <a:t>•Methodology </a:t>
            </a:r>
          </a:p>
          <a:p>
            <a:pPr algn="just">
              <a:lnSpc>
                <a:spcPts val="3667"/>
              </a:lnSpc>
            </a:pPr>
            <a:r>
              <a:rPr lang="en-US" sz="2799" spc="221" dirty="0">
                <a:solidFill>
                  <a:srgbClr val="000000"/>
                </a:solidFill>
                <a:latin typeface="Times New Roman"/>
                <a:ea typeface="Times New Roman"/>
                <a:cs typeface="Times New Roman"/>
                <a:sym typeface="Times New Roman"/>
              </a:rPr>
              <a:t>•Experimental Setup </a:t>
            </a:r>
          </a:p>
          <a:p>
            <a:pPr algn="just">
              <a:lnSpc>
                <a:spcPts val="3667"/>
              </a:lnSpc>
            </a:pPr>
            <a:r>
              <a:rPr lang="en-US" sz="2799" spc="221" dirty="0">
                <a:solidFill>
                  <a:srgbClr val="000000"/>
                </a:solidFill>
                <a:latin typeface="Times New Roman"/>
                <a:ea typeface="Times New Roman"/>
                <a:cs typeface="Times New Roman"/>
                <a:sym typeface="Times New Roman"/>
              </a:rPr>
              <a:t>•Results or Findings</a:t>
            </a:r>
          </a:p>
          <a:p>
            <a:pPr algn="just">
              <a:lnSpc>
                <a:spcPts val="3667"/>
              </a:lnSpc>
            </a:pPr>
            <a:r>
              <a:rPr lang="en-US" sz="2799" spc="221" dirty="0">
                <a:solidFill>
                  <a:srgbClr val="000000"/>
                </a:solidFill>
                <a:latin typeface="Times New Roman"/>
                <a:ea typeface="Times New Roman"/>
                <a:cs typeface="Times New Roman"/>
                <a:sym typeface="Times New Roman"/>
              </a:rPr>
              <a:t>•Summary Table</a:t>
            </a:r>
          </a:p>
          <a:p>
            <a:pPr algn="just">
              <a:lnSpc>
                <a:spcPts val="3667"/>
              </a:lnSpc>
            </a:pPr>
            <a:r>
              <a:rPr lang="en-US" sz="2799" spc="221" dirty="0">
                <a:solidFill>
                  <a:srgbClr val="000000"/>
                </a:solidFill>
                <a:latin typeface="Times New Roman"/>
                <a:ea typeface="Times New Roman"/>
                <a:cs typeface="Times New Roman"/>
                <a:sym typeface="Times New Roman"/>
              </a:rPr>
              <a:t>•Discussion</a:t>
            </a:r>
          </a:p>
          <a:p>
            <a:pPr algn="just">
              <a:lnSpc>
                <a:spcPts val="3667"/>
              </a:lnSpc>
            </a:pPr>
            <a:r>
              <a:rPr lang="en-US" sz="2799" spc="221" dirty="0">
                <a:solidFill>
                  <a:srgbClr val="000000"/>
                </a:solidFill>
                <a:latin typeface="Times New Roman"/>
                <a:ea typeface="Times New Roman"/>
                <a:cs typeface="Times New Roman"/>
                <a:sym typeface="Times New Roman"/>
              </a:rPr>
              <a:t>•Proposed System </a:t>
            </a:r>
          </a:p>
          <a:p>
            <a:pPr algn="just">
              <a:lnSpc>
                <a:spcPts val="3667"/>
              </a:lnSpc>
            </a:pPr>
            <a:r>
              <a:rPr lang="en-US" sz="2799" spc="221" dirty="0">
                <a:solidFill>
                  <a:srgbClr val="000000"/>
                </a:solidFill>
                <a:latin typeface="Times New Roman"/>
                <a:ea typeface="Times New Roman"/>
                <a:cs typeface="Times New Roman"/>
                <a:sym typeface="Times New Roman"/>
              </a:rPr>
              <a:t>•Feasibility Study </a:t>
            </a:r>
          </a:p>
          <a:p>
            <a:pPr algn="just">
              <a:lnSpc>
                <a:spcPts val="3667"/>
              </a:lnSpc>
            </a:pPr>
            <a:r>
              <a:rPr lang="en-US" sz="2799" spc="221" dirty="0">
                <a:solidFill>
                  <a:srgbClr val="000000"/>
                </a:solidFill>
                <a:latin typeface="Times New Roman"/>
                <a:ea typeface="Times New Roman"/>
                <a:cs typeface="Times New Roman"/>
                <a:sym typeface="Times New Roman"/>
              </a:rPr>
              <a:t>•Workflow</a:t>
            </a:r>
          </a:p>
          <a:p>
            <a:pPr algn="just">
              <a:lnSpc>
                <a:spcPts val="3667"/>
              </a:lnSpc>
            </a:pPr>
            <a:r>
              <a:rPr lang="en-US" sz="2799" spc="221" dirty="0">
                <a:solidFill>
                  <a:srgbClr val="000000"/>
                </a:solidFill>
                <a:latin typeface="Times New Roman"/>
                <a:ea typeface="Times New Roman"/>
                <a:cs typeface="Times New Roman"/>
                <a:sym typeface="Times New Roman"/>
              </a:rPr>
              <a:t>•Methods and Techniques Used</a:t>
            </a:r>
          </a:p>
          <a:p>
            <a:pPr algn="just">
              <a:lnSpc>
                <a:spcPts val="3667"/>
              </a:lnSpc>
            </a:pPr>
            <a:r>
              <a:rPr lang="en-US" sz="2799" spc="221" dirty="0">
                <a:solidFill>
                  <a:srgbClr val="000000"/>
                </a:solidFill>
                <a:latin typeface="Times New Roman"/>
                <a:ea typeface="Times New Roman"/>
                <a:cs typeface="Times New Roman"/>
                <a:sym typeface="Times New Roman"/>
              </a:rPr>
              <a:t>•Progress in Project</a:t>
            </a:r>
          </a:p>
          <a:p>
            <a:pPr algn="just">
              <a:lnSpc>
                <a:spcPts val="3667"/>
              </a:lnSpc>
            </a:pPr>
            <a:r>
              <a:rPr lang="en-US" sz="2799" spc="221" dirty="0">
                <a:solidFill>
                  <a:srgbClr val="000000"/>
                </a:solidFill>
                <a:latin typeface="Times New Roman"/>
                <a:ea typeface="Times New Roman"/>
                <a:cs typeface="Times New Roman"/>
                <a:sym typeface="Times New Roman"/>
              </a:rPr>
              <a:t>•Results</a:t>
            </a:r>
          </a:p>
          <a:p>
            <a:pPr algn="just">
              <a:lnSpc>
                <a:spcPts val="3667"/>
              </a:lnSpc>
            </a:pPr>
            <a:r>
              <a:rPr lang="en-US" sz="2799" spc="221" dirty="0">
                <a:solidFill>
                  <a:srgbClr val="000000"/>
                </a:solidFill>
                <a:latin typeface="Times New Roman"/>
                <a:ea typeface="Times New Roman"/>
                <a:cs typeface="Times New Roman"/>
                <a:sym typeface="Times New Roman"/>
              </a:rPr>
              <a:t>•Conclusion</a:t>
            </a:r>
          </a:p>
          <a:p>
            <a:pPr algn="just">
              <a:lnSpc>
                <a:spcPts val="3667"/>
              </a:lnSpc>
            </a:pPr>
            <a:r>
              <a:rPr lang="en-US" sz="2799" spc="221" dirty="0">
                <a:solidFill>
                  <a:srgbClr val="000000"/>
                </a:solidFill>
                <a:latin typeface="Times New Roman"/>
                <a:ea typeface="Times New Roman"/>
                <a:cs typeface="Times New Roman"/>
                <a:sym typeface="Times New Roman"/>
              </a:rPr>
              <a:t>•References</a:t>
            </a:r>
          </a:p>
          <a:p>
            <a:pPr algn="just">
              <a:lnSpc>
                <a:spcPts val="3667"/>
              </a:lnSpc>
            </a:pPr>
            <a:endParaRPr lang="en-US" sz="2799" spc="221"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629400" y="1028700"/>
            <a:ext cx="4165810"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ABSTRACT</a:t>
            </a:r>
          </a:p>
        </p:txBody>
      </p:sp>
      <p:sp>
        <p:nvSpPr>
          <p:cNvPr id="3" name="TextBox 3"/>
          <p:cNvSpPr txBox="1"/>
          <p:nvPr/>
        </p:nvSpPr>
        <p:spPr>
          <a:xfrm>
            <a:off x="1028700" y="2694968"/>
            <a:ext cx="16693654" cy="6679057"/>
          </a:xfrm>
          <a:prstGeom prst="rect">
            <a:avLst/>
          </a:prstGeom>
        </p:spPr>
        <p:txBody>
          <a:bodyPr lIns="0" tIns="0" rIns="0" bIns="0" rtlCol="0" anchor="t">
            <a:spAutoFit/>
          </a:bodyPr>
          <a:lstStyle/>
          <a:p>
            <a:pPr algn="l">
              <a:lnSpc>
                <a:spcPts val="4843"/>
              </a:lnSpc>
            </a:pPr>
            <a:r>
              <a:rPr lang="en-US" sz="2799">
                <a:solidFill>
                  <a:srgbClr val="000000"/>
                </a:solidFill>
                <a:latin typeface="Times New Roman"/>
                <a:ea typeface="Times New Roman"/>
                <a:cs typeface="Times New Roman"/>
                <a:sym typeface="Times New Roman"/>
              </a:rPr>
              <a:t>Mindova Learning Application is a modern online learning platform developed using MERN stack technologies including MongoDB, Express.js, React.js, and Node.js. The application provides secure user authentication, responsive UI design, and easy access to educational resources through an interactive and user-friendly interface.</a:t>
            </a:r>
          </a:p>
          <a:p>
            <a:pPr algn="l">
              <a:lnSpc>
                <a:spcPts val="4843"/>
              </a:lnSpc>
            </a:pPr>
            <a:r>
              <a:rPr lang="en-US" sz="2799">
                <a:solidFill>
                  <a:srgbClr val="000000"/>
                </a:solidFill>
                <a:latin typeface="Times New Roman"/>
                <a:ea typeface="Times New Roman"/>
                <a:cs typeface="Times New Roman"/>
                <a:sym typeface="Times New Roman"/>
              </a:rPr>
              <a:t>The platform allows students to enroll in courses, watch video lectures, attempt quizzes, track learning progress, and download course completion certificates. Instructors can create and manage courses, while administrators can monitor users, enrollment requests, and overall system performance through a centralized dashboard.</a:t>
            </a:r>
          </a:p>
          <a:p>
            <a:pPr algn="l">
              <a:lnSpc>
                <a:spcPts val="4843"/>
              </a:lnSpc>
            </a:pPr>
            <a:r>
              <a:rPr lang="en-US" sz="2799">
                <a:solidFill>
                  <a:srgbClr val="000000"/>
                </a:solidFill>
                <a:latin typeface="Times New Roman"/>
                <a:ea typeface="Times New Roman"/>
                <a:cs typeface="Times New Roman"/>
                <a:sym typeface="Times New Roman"/>
              </a:rPr>
              <a:t>The project demonstrates practical implementation of full-stack web development concepts such as frontend-backend integration, REST API communication, database management, JWT authentication, responsive web design, and deployment using Vercel and Render. It also highlights the importance of digital learning systems in improving accessibility, flexibility, and online education management.</a:t>
            </a:r>
          </a:p>
          <a:p>
            <a:pPr algn="l">
              <a:lnSpc>
                <a:spcPts val="4843"/>
              </a:lnSpc>
            </a:pPr>
            <a:endParaRPr lang="en-US" sz="2799">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400800" y="800100"/>
            <a:ext cx="4572099" cy="781051"/>
          </a:xfrm>
          <a:prstGeom prst="rect">
            <a:avLst/>
          </a:prstGeom>
        </p:spPr>
        <p:txBody>
          <a:bodyPr lIns="0" tIns="0" rIns="0" bIns="0" rtlCol="0" anchor="t">
            <a:spAutoFit/>
          </a:bodyPr>
          <a:lstStyle/>
          <a:p>
            <a:pPr algn="ctr">
              <a:lnSpc>
                <a:spcPts val="6299"/>
              </a:lnSpc>
              <a:spcBef>
                <a:spcPct val="0"/>
              </a:spcBef>
            </a:pPr>
            <a:r>
              <a:rPr lang="en-US" sz="4499" b="1" dirty="0">
                <a:solidFill>
                  <a:srgbClr val="000000"/>
                </a:solidFill>
                <a:latin typeface="Times New Roman Bold"/>
                <a:ea typeface="Times New Roman Bold"/>
                <a:cs typeface="Times New Roman Bold"/>
                <a:sym typeface="Times New Roman Bold"/>
              </a:rPr>
              <a:t>INTRODUCTION</a:t>
            </a:r>
          </a:p>
        </p:txBody>
      </p:sp>
      <p:sp>
        <p:nvSpPr>
          <p:cNvPr id="3" name="TextBox 3"/>
          <p:cNvSpPr txBox="1"/>
          <p:nvPr/>
        </p:nvSpPr>
        <p:spPr>
          <a:xfrm>
            <a:off x="990600" y="2476500"/>
            <a:ext cx="15874908" cy="6443980"/>
          </a:xfrm>
          <a:prstGeom prst="rect">
            <a:avLst/>
          </a:prstGeom>
        </p:spPr>
        <p:txBody>
          <a:bodyPr lIns="0" tIns="0" rIns="0" bIns="0" rtlCol="0" anchor="t">
            <a:spAutoFit/>
          </a:bodyPr>
          <a:lstStyle/>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Online learning platforms are becoming important in modern education</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Traditional learning systems often lack flexibility and accessibility</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Students need a centralized platform for managing learning resources</a:t>
            </a:r>
          </a:p>
          <a:p>
            <a:pPr marL="604519" lvl="1" indent="-302260" algn="l">
              <a:lnSpc>
                <a:spcPts val="3919"/>
              </a:lnSpc>
              <a:buFont typeface="Arial"/>
              <a:buChar char="•"/>
            </a:pPr>
            <a:r>
              <a:rPr lang="en-US" sz="2799" dirty="0" err="1">
                <a:solidFill>
                  <a:srgbClr val="000000"/>
                </a:solidFill>
                <a:latin typeface="Times New Roman"/>
                <a:ea typeface="Times New Roman"/>
                <a:cs typeface="Times New Roman"/>
                <a:sym typeface="Times New Roman"/>
              </a:rPr>
              <a:t>Mindova</a:t>
            </a:r>
            <a:r>
              <a:rPr lang="en-US" sz="2799" dirty="0">
                <a:solidFill>
                  <a:srgbClr val="000000"/>
                </a:solidFill>
                <a:latin typeface="Times New Roman"/>
                <a:ea typeface="Times New Roman"/>
                <a:cs typeface="Times New Roman"/>
                <a:sym typeface="Times New Roman"/>
              </a:rPr>
              <a:t> provides an organized and interactive learning environment</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Includes features like authentication, dashboard, and course access</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Designed using MERN stack technologies</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Responsive interface supports mobile, tablet, and desktop devices</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Helps users access educational content anytime and anywhere</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Provides smooth navigation and better user experience</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Improves practical understanding of full-stack web development</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Supports digital learning and skill development</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Makes learning resources easily accessible and manageable</a:t>
            </a:r>
          </a:p>
          <a:p>
            <a:pPr algn="l">
              <a:lnSpc>
                <a:spcPts val="3919"/>
              </a:lnSpc>
            </a:pPr>
            <a:endParaRPr lang="en-US" sz="2799"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705600" y="1181100"/>
            <a:ext cx="3568329" cy="741229"/>
          </a:xfrm>
          <a:prstGeom prst="rect">
            <a:avLst/>
          </a:prstGeom>
        </p:spPr>
        <p:txBody>
          <a:bodyPr wrap="square" lIns="0" tIns="0" rIns="0" bIns="0" rtlCol="0" anchor="t">
            <a:spAutoFit/>
          </a:bodyPr>
          <a:lstStyle/>
          <a:p>
            <a:pPr algn="ctr">
              <a:lnSpc>
                <a:spcPts val="6299"/>
              </a:lnSpc>
              <a:spcBef>
                <a:spcPct val="0"/>
              </a:spcBef>
            </a:pPr>
            <a:r>
              <a:rPr lang="en-US" sz="4500" b="1" dirty="0">
                <a:solidFill>
                  <a:srgbClr val="000000"/>
                </a:solidFill>
                <a:latin typeface="Times New Roman Bold"/>
                <a:ea typeface="Times New Roman Bold"/>
                <a:cs typeface="Times New Roman Bold"/>
                <a:sym typeface="Times New Roman Bold"/>
              </a:rPr>
              <a:t>Objectives</a:t>
            </a:r>
          </a:p>
        </p:txBody>
      </p:sp>
      <p:sp>
        <p:nvSpPr>
          <p:cNvPr id="3" name="TextBox 3"/>
          <p:cNvSpPr txBox="1"/>
          <p:nvPr/>
        </p:nvSpPr>
        <p:spPr>
          <a:xfrm>
            <a:off x="1001789" y="3238500"/>
            <a:ext cx="16284421" cy="4958080"/>
          </a:xfrm>
          <a:prstGeom prst="rect">
            <a:avLst/>
          </a:prstGeom>
        </p:spPr>
        <p:txBody>
          <a:bodyPr lIns="0" tIns="0" rIns="0" bIns="0" rtlCol="0" anchor="t">
            <a:spAutoFit/>
          </a:bodyPr>
          <a:lstStyle/>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To develop a responsive online learning platform using MERN stack</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To provide secure login and registration functionality</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To create a user-friendly and modern interface</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To organize educational content effectively</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To improve accessibility for learners on different devices</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To integrate frontend, backend, and database operations</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To implement secure authentication using JWT</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To gain practical knowledge of full-stack web development</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To deploy the application using modern hosting platforms</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To support future enhancements like quizzes and certifications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334000" y="1409700"/>
            <a:ext cx="6813017"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Problem Definition</a:t>
            </a:r>
          </a:p>
        </p:txBody>
      </p:sp>
      <p:sp>
        <p:nvSpPr>
          <p:cNvPr id="3" name="TextBox 3"/>
          <p:cNvSpPr txBox="1"/>
          <p:nvPr/>
        </p:nvSpPr>
        <p:spPr>
          <a:xfrm>
            <a:off x="1066800" y="3695700"/>
            <a:ext cx="16587670" cy="2143125"/>
          </a:xfrm>
          <a:prstGeom prst="rect">
            <a:avLst/>
          </a:prstGeom>
        </p:spPr>
        <p:txBody>
          <a:bodyPr lIns="0" tIns="0" rIns="0" bIns="0" rtlCol="0" anchor="t">
            <a:spAutoFit/>
          </a:bodyPr>
          <a:lstStyle/>
          <a:p>
            <a:pPr algn="l">
              <a:lnSpc>
                <a:spcPts val="4200"/>
              </a:lnSpc>
              <a:spcBef>
                <a:spcPct val="0"/>
              </a:spcBef>
            </a:pPr>
            <a:r>
              <a:rPr lang="en-US" sz="3000" dirty="0">
                <a:solidFill>
                  <a:srgbClr val="000000"/>
                </a:solidFill>
                <a:latin typeface="Times New Roman"/>
                <a:ea typeface="Times New Roman"/>
                <a:cs typeface="Times New Roman"/>
                <a:sym typeface="Times New Roman"/>
              </a:rPr>
              <a:t>Many traditional learning systems lack proper organization, responsiveness, and interactive features. Students often face difficulties in accessing learning resources through a single platform. </a:t>
            </a:r>
            <a:r>
              <a:rPr lang="en-US" sz="3000" dirty="0" err="1">
                <a:solidFill>
                  <a:srgbClr val="000000"/>
                </a:solidFill>
                <a:latin typeface="Times New Roman"/>
                <a:ea typeface="Times New Roman"/>
                <a:cs typeface="Times New Roman"/>
                <a:sym typeface="Times New Roman"/>
              </a:rPr>
              <a:t>Mindova</a:t>
            </a:r>
            <a:r>
              <a:rPr lang="en-US" sz="3000" dirty="0">
                <a:solidFill>
                  <a:srgbClr val="000000"/>
                </a:solidFill>
                <a:latin typeface="Times New Roman"/>
                <a:ea typeface="Times New Roman"/>
                <a:cs typeface="Times New Roman"/>
                <a:sym typeface="Times New Roman"/>
              </a:rPr>
              <a:t> solves this problem by providing a centralized and responsive online learning application with secure authentication and efficient course management.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410200" y="1184224"/>
            <a:ext cx="6679216"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Scope of the Project</a:t>
            </a:r>
          </a:p>
        </p:txBody>
      </p:sp>
      <p:sp>
        <p:nvSpPr>
          <p:cNvPr id="3" name="TextBox 3"/>
          <p:cNvSpPr txBox="1"/>
          <p:nvPr/>
        </p:nvSpPr>
        <p:spPr>
          <a:xfrm>
            <a:off x="1197662" y="3390900"/>
            <a:ext cx="15892675" cy="4958080"/>
          </a:xfrm>
          <a:prstGeom prst="rect">
            <a:avLst/>
          </a:prstGeom>
        </p:spPr>
        <p:txBody>
          <a:bodyPr lIns="0" tIns="0" rIns="0" bIns="0" rtlCol="0" anchor="t">
            <a:spAutoFit/>
          </a:bodyPr>
          <a:lstStyle/>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User registration and login system</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Secure authentication using JWT</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Course access and management</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Video learning modules for students</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Online quizzes for knowledge assessment</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Responsive dashboard for better user experience</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Database integration using MongoDB</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REST API communication between frontend and backend</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Certificate generation for completed courses</a:t>
            </a:r>
          </a:p>
          <a:p>
            <a:pPr marL="604519" lvl="1" indent="-302260" algn="l">
              <a:lnSpc>
                <a:spcPts val="3919"/>
              </a:lnSpc>
              <a:buFont typeface="Arial"/>
              <a:buChar char="•"/>
            </a:pPr>
            <a:r>
              <a:rPr lang="en-US" sz="2799" dirty="0">
                <a:solidFill>
                  <a:srgbClr val="000000"/>
                </a:solidFill>
                <a:latin typeface="Times New Roman"/>
                <a:ea typeface="Times New Roman"/>
                <a:cs typeface="Times New Roman"/>
                <a:sym typeface="Times New Roman"/>
              </a:rPr>
              <a:t>Future support for AI-based recommendations and admin dashboard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320058" y="558482"/>
            <a:ext cx="4571008" cy="816611"/>
          </a:xfrm>
          <a:prstGeom prst="rect">
            <a:avLst/>
          </a:prstGeom>
        </p:spPr>
        <p:txBody>
          <a:bodyPr lIns="0" tIns="0" rIns="0" bIns="0" rtlCol="0" anchor="t">
            <a:spAutoFit/>
          </a:bodyPr>
          <a:lstStyle/>
          <a:p>
            <a:pPr algn="ctr">
              <a:lnSpc>
                <a:spcPts val="6439"/>
              </a:lnSpc>
              <a:spcBef>
                <a:spcPct val="0"/>
              </a:spcBef>
            </a:pPr>
            <a:r>
              <a:rPr lang="en-US" sz="4599" b="1">
                <a:solidFill>
                  <a:srgbClr val="000000"/>
                </a:solidFill>
                <a:latin typeface="Times New Roman Bold"/>
                <a:ea typeface="Times New Roman Bold"/>
                <a:cs typeface="Times New Roman Bold"/>
                <a:sym typeface="Times New Roman Bold"/>
              </a:rPr>
              <a:t>Technologies Used</a:t>
            </a:r>
          </a:p>
        </p:txBody>
      </p:sp>
      <p:sp>
        <p:nvSpPr>
          <p:cNvPr id="3" name="TextBox 3"/>
          <p:cNvSpPr txBox="1"/>
          <p:nvPr/>
        </p:nvSpPr>
        <p:spPr>
          <a:xfrm>
            <a:off x="1091627" y="1624052"/>
            <a:ext cx="15027869" cy="6898005"/>
          </a:xfrm>
          <a:prstGeom prst="rect">
            <a:avLst/>
          </a:prstGeom>
        </p:spPr>
        <p:txBody>
          <a:bodyPr lIns="0" tIns="0" rIns="0" bIns="0" rtlCol="0" anchor="t">
            <a:spAutoFit/>
          </a:bodyPr>
          <a:lstStyle/>
          <a:p>
            <a:pPr algn="l">
              <a:lnSpc>
                <a:spcPts val="3060"/>
              </a:lnSpc>
            </a:pPr>
            <a:r>
              <a:rPr lang="en-US" sz="3000" b="1">
                <a:solidFill>
                  <a:srgbClr val="000000"/>
                </a:solidFill>
                <a:latin typeface="Times New Roman Bold"/>
                <a:ea typeface="Times New Roman Bold"/>
                <a:cs typeface="Times New Roman Bold"/>
                <a:sym typeface="Times New Roman Bold"/>
              </a:rPr>
              <a:t>Frontend</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React.js</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Tailwind CSS</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Vite</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React Router DOM</a:t>
            </a:r>
          </a:p>
          <a:p>
            <a:pPr algn="l">
              <a:lnSpc>
                <a:spcPts val="3060"/>
              </a:lnSpc>
            </a:pPr>
            <a:r>
              <a:rPr lang="en-US" sz="3000" b="1">
                <a:solidFill>
                  <a:srgbClr val="000000"/>
                </a:solidFill>
                <a:latin typeface="Times New Roman Bold"/>
                <a:ea typeface="Times New Roman Bold"/>
                <a:cs typeface="Times New Roman Bold"/>
                <a:sym typeface="Times New Roman Bold"/>
              </a:rPr>
              <a:t>Backend</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Node.js</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Express.js</a:t>
            </a:r>
          </a:p>
          <a:p>
            <a:pPr algn="l">
              <a:lnSpc>
                <a:spcPts val="3060"/>
              </a:lnSpc>
            </a:pPr>
            <a:r>
              <a:rPr lang="en-US" sz="3000" b="1">
                <a:solidFill>
                  <a:srgbClr val="000000"/>
                </a:solidFill>
                <a:latin typeface="Times New Roman Bold"/>
                <a:ea typeface="Times New Roman Bold"/>
                <a:cs typeface="Times New Roman Bold"/>
                <a:sym typeface="Times New Roman Bold"/>
              </a:rPr>
              <a:t>Database</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MongoDB</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Mongoose</a:t>
            </a:r>
          </a:p>
          <a:p>
            <a:pPr algn="l">
              <a:lnSpc>
                <a:spcPts val="3060"/>
              </a:lnSpc>
            </a:pPr>
            <a:r>
              <a:rPr lang="en-US" sz="3000" b="1">
                <a:solidFill>
                  <a:srgbClr val="000000"/>
                </a:solidFill>
                <a:latin typeface="Times New Roman Bold"/>
                <a:ea typeface="Times New Roman Bold"/>
                <a:cs typeface="Times New Roman Bold"/>
                <a:sym typeface="Times New Roman Bold"/>
              </a:rPr>
              <a:t>Tools</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VS Code</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GitHub</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Postman</a:t>
            </a:r>
          </a:p>
          <a:p>
            <a:pPr algn="l">
              <a:lnSpc>
                <a:spcPts val="3060"/>
              </a:lnSpc>
            </a:pPr>
            <a:r>
              <a:rPr lang="en-US" sz="3000" b="1">
                <a:solidFill>
                  <a:srgbClr val="000000"/>
                </a:solidFill>
                <a:latin typeface="Times New Roman Bold"/>
                <a:ea typeface="Times New Roman Bold"/>
                <a:cs typeface="Times New Roman Bold"/>
                <a:sym typeface="Times New Roman Bold"/>
              </a:rPr>
              <a:t>Deployment</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Vercel</a:t>
            </a:r>
          </a:p>
          <a:p>
            <a:pPr marL="647702" lvl="1" indent="-323851" algn="l">
              <a:lnSpc>
                <a:spcPts val="3060"/>
              </a:lnSpc>
              <a:buFont typeface="Arial"/>
              <a:buChar char="•"/>
            </a:pPr>
            <a:r>
              <a:rPr lang="en-US" sz="3000">
                <a:solidFill>
                  <a:srgbClr val="000000"/>
                </a:solidFill>
                <a:latin typeface="Times New Roman"/>
                <a:ea typeface="Times New Roman"/>
                <a:cs typeface="Times New Roman"/>
                <a:sym typeface="Times New Roman"/>
              </a:rPr>
              <a:t>Render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781800" y="571500"/>
            <a:ext cx="4185513"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Methodology</a:t>
            </a:r>
          </a:p>
        </p:txBody>
      </p:sp>
      <p:sp>
        <p:nvSpPr>
          <p:cNvPr id="3" name="TextBox 3"/>
          <p:cNvSpPr txBox="1"/>
          <p:nvPr/>
        </p:nvSpPr>
        <p:spPr>
          <a:xfrm>
            <a:off x="953373" y="2247900"/>
            <a:ext cx="15842365" cy="6257671"/>
          </a:xfrm>
          <a:prstGeom prst="rect">
            <a:avLst/>
          </a:prstGeom>
        </p:spPr>
        <p:txBody>
          <a:bodyPr lIns="0" tIns="0" rIns="0" bIns="0" rtlCol="0" anchor="t">
            <a:spAutoFit/>
          </a:bodyPr>
          <a:lstStyle/>
          <a:p>
            <a:pPr marL="604519" lvl="1" indent="-302260" algn="l">
              <a:lnSpc>
                <a:spcPts val="5011"/>
              </a:lnSpc>
              <a:buFont typeface="Arial"/>
              <a:buChar char="•"/>
            </a:pPr>
            <a:r>
              <a:rPr lang="en-US" sz="2799" dirty="0">
                <a:solidFill>
                  <a:srgbClr val="000000"/>
                </a:solidFill>
                <a:latin typeface="Times New Roman"/>
                <a:ea typeface="Times New Roman"/>
                <a:cs typeface="Times New Roman"/>
                <a:sym typeface="Times New Roman"/>
              </a:rPr>
              <a:t>Requirement analysis was performed to understand user needs</a:t>
            </a:r>
          </a:p>
          <a:p>
            <a:pPr marL="604519" lvl="1" indent="-302260" algn="l">
              <a:lnSpc>
                <a:spcPts val="5011"/>
              </a:lnSpc>
              <a:buFont typeface="Arial"/>
              <a:buChar char="•"/>
            </a:pPr>
            <a:r>
              <a:rPr lang="en-US" sz="2799" dirty="0">
                <a:solidFill>
                  <a:srgbClr val="000000"/>
                </a:solidFill>
                <a:latin typeface="Times New Roman"/>
                <a:ea typeface="Times New Roman"/>
                <a:cs typeface="Times New Roman"/>
                <a:sym typeface="Times New Roman"/>
              </a:rPr>
              <a:t>Planned the structure and workflow of the application</a:t>
            </a:r>
          </a:p>
          <a:p>
            <a:pPr marL="604519" lvl="1" indent="-302260" algn="l">
              <a:lnSpc>
                <a:spcPts val="5011"/>
              </a:lnSpc>
              <a:buFont typeface="Arial"/>
              <a:buChar char="•"/>
            </a:pPr>
            <a:r>
              <a:rPr lang="en-US" sz="2799" dirty="0">
                <a:solidFill>
                  <a:srgbClr val="000000"/>
                </a:solidFill>
                <a:latin typeface="Times New Roman"/>
                <a:ea typeface="Times New Roman"/>
                <a:cs typeface="Times New Roman"/>
                <a:sym typeface="Times New Roman"/>
              </a:rPr>
              <a:t>Designed responsive UI using React.js and Tailwind CSS</a:t>
            </a:r>
          </a:p>
          <a:p>
            <a:pPr marL="604519" lvl="1" indent="-302260" algn="l">
              <a:lnSpc>
                <a:spcPts val="5011"/>
              </a:lnSpc>
              <a:buFont typeface="Arial"/>
              <a:buChar char="•"/>
            </a:pPr>
            <a:r>
              <a:rPr lang="en-US" sz="2799" dirty="0">
                <a:solidFill>
                  <a:srgbClr val="000000"/>
                </a:solidFill>
                <a:latin typeface="Times New Roman"/>
                <a:ea typeface="Times New Roman"/>
                <a:cs typeface="Times New Roman"/>
                <a:sym typeface="Times New Roman"/>
              </a:rPr>
              <a:t>Developed frontend pages for dashboard, videos, and quizzes</a:t>
            </a:r>
          </a:p>
          <a:p>
            <a:pPr marL="604519" lvl="1" indent="-302260" algn="l">
              <a:lnSpc>
                <a:spcPts val="5011"/>
              </a:lnSpc>
              <a:buFont typeface="Arial"/>
              <a:buChar char="•"/>
            </a:pPr>
            <a:r>
              <a:rPr lang="en-US" sz="2799" dirty="0">
                <a:solidFill>
                  <a:srgbClr val="000000"/>
                </a:solidFill>
                <a:latin typeface="Times New Roman"/>
                <a:ea typeface="Times New Roman"/>
                <a:cs typeface="Times New Roman"/>
                <a:sym typeface="Times New Roman"/>
              </a:rPr>
              <a:t>Created backend APIs using Node.js and Express.js</a:t>
            </a:r>
          </a:p>
          <a:p>
            <a:pPr marL="604519" lvl="1" indent="-302260" algn="l">
              <a:lnSpc>
                <a:spcPts val="5011"/>
              </a:lnSpc>
              <a:buFont typeface="Arial"/>
              <a:buChar char="•"/>
            </a:pPr>
            <a:r>
              <a:rPr lang="en-US" sz="2799" dirty="0">
                <a:solidFill>
                  <a:srgbClr val="000000"/>
                </a:solidFill>
                <a:latin typeface="Times New Roman"/>
                <a:ea typeface="Times New Roman"/>
                <a:cs typeface="Times New Roman"/>
                <a:sym typeface="Times New Roman"/>
              </a:rPr>
              <a:t>Implemented secure authentication using JWT</a:t>
            </a:r>
          </a:p>
          <a:p>
            <a:pPr marL="604519" lvl="1" indent="-302260" algn="l">
              <a:lnSpc>
                <a:spcPts val="5011"/>
              </a:lnSpc>
              <a:buFont typeface="Arial"/>
              <a:buChar char="•"/>
            </a:pPr>
            <a:r>
              <a:rPr lang="en-US" sz="2799" dirty="0">
                <a:solidFill>
                  <a:srgbClr val="000000"/>
                </a:solidFill>
                <a:latin typeface="Times New Roman"/>
                <a:ea typeface="Times New Roman"/>
                <a:cs typeface="Times New Roman"/>
                <a:sym typeface="Times New Roman"/>
              </a:rPr>
              <a:t>Integrated MongoDB database for storing application data</a:t>
            </a:r>
          </a:p>
          <a:p>
            <a:pPr marL="604519" lvl="1" indent="-302260" algn="l">
              <a:lnSpc>
                <a:spcPts val="5011"/>
              </a:lnSpc>
              <a:buFont typeface="Arial"/>
              <a:buChar char="•"/>
            </a:pPr>
            <a:r>
              <a:rPr lang="en-US" sz="2799" dirty="0">
                <a:solidFill>
                  <a:srgbClr val="000000"/>
                </a:solidFill>
                <a:latin typeface="Times New Roman"/>
                <a:ea typeface="Times New Roman"/>
                <a:cs typeface="Times New Roman"/>
                <a:sym typeface="Times New Roman"/>
              </a:rPr>
              <a:t>Added video learning modules and quiz functionality</a:t>
            </a:r>
          </a:p>
          <a:p>
            <a:pPr marL="604519" lvl="1" indent="-302260" algn="l">
              <a:lnSpc>
                <a:spcPts val="5011"/>
              </a:lnSpc>
              <a:buFont typeface="Arial"/>
              <a:buChar char="•"/>
            </a:pPr>
            <a:r>
              <a:rPr lang="en-US" sz="2799" dirty="0">
                <a:solidFill>
                  <a:srgbClr val="000000"/>
                </a:solidFill>
                <a:latin typeface="Times New Roman"/>
                <a:ea typeface="Times New Roman"/>
                <a:cs typeface="Times New Roman"/>
                <a:sym typeface="Times New Roman"/>
              </a:rPr>
              <a:t>Tested responsiveness, APIs, and database operations</a:t>
            </a:r>
          </a:p>
          <a:p>
            <a:pPr marL="604519" lvl="1" indent="-302260" algn="l">
              <a:lnSpc>
                <a:spcPts val="5011"/>
              </a:lnSpc>
              <a:buFont typeface="Arial"/>
              <a:buChar char="•"/>
            </a:pPr>
            <a:r>
              <a:rPr lang="en-US" sz="2799" dirty="0">
                <a:solidFill>
                  <a:srgbClr val="000000"/>
                </a:solidFill>
                <a:latin typeface="Times New Roman"/>
                <a:ea typeface="Times New Roman"/>
                <a:cs typeface="Times New Roman"/>
                <a:sym typeface="Times New Roman"/>
              </a:rPr>
              <a:t>Deployed the frontend on </a:t>
            </a:r>
            <a:r>
              <a:rPr lang="en-US" sz="2799" dirty="0" err="1">
                <a:solidFill>
                  <a:srgbClr val="000000"/>
                </a:solidFill>
                <a:latin typeface="Times New Roman"/>
                <a:ea typeface="Times New Roman"/>
                <a:cs typeface="Times New Roman"/>
                <a:sym typeface="Times New Roman"/>
              </a:rPr>
              <a:t>Vercel</a:t>
            </a:r>
            <a:r>
              <a:rPr lang="en-US" sz="2799" dirty="0">
                <a:solidFill>
                  <a:srgbClr val="000000"/>
                </a:solidFill>
                <a:latin typeface="Times New Roman"/>
                <a:ea typeface="Times New Roman"/>
                <a:cs typeface="Times New Roman"/>
                <a:sym typeface="Times New Roman"/>
              </a:rPr>
              <a:t> and backend on Render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028700" y="1600680"/>
            <a:ext cx="6465040" cy="7298528"/>
          </a:xfrm>
          <a:custGeom>
            <a:avLst/>
            <a:gdLst/>
            <a:ahLst/>
            <a:cxnLst/>
            <a:rect l="l" t="t" r="r" b="b"/>
            <a:pathLst>
              <a:path w="6465040" h="7298528">
                <a:moveTo>
                  <a:pt x="0" y="0"/>
                </a:moveTo>
                <a:lnTo>
                  <a:pt x="6465040" y="0"/>
                </a:lnTo>
                <a:lnTo>
                  <a:pt x="6465040" y="7298527"/>
                </a:lnTo>
                <a:lnTo>
                  <a:pt x="0" y="7298527"/>
                </a:lnTo>
                <a:lnTo>
                  <a:pt x="0" y="0"/>
                </a:lnTo>
                <a:close/>
              </a:path>
            </a:pathLst>
          </a:custGeom>
          <a:blipFill>
            <a:blip r:embed="rId2"/>
            <a:stretch>
              <a:fillRect l="-1502" r="-1502"/>
            </a:stretch>
          </a:blipFill>
        </p:spPr>
        <p:txBody>
          <a:bodyPr/>
          <a:lstStyle/>
          <a:p>
            <a:endParaRPr lang="en-IN"/>
          </a:p>
        </p:txBody>
      </p:sp>
      <p:sp>
        <p:nvSpPr>
          <p:cNvPr id="3" name="TextBox 3"/>
          <p:cNvSpPr txBox="1"/>
          <p:nvPr/>
        </p:nvSpPr>
        <p:spPr>
          <a:xfrm>
            <a:off x="5257800" y="326575"/>
            <a:ext cx="6589846"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System Architecture</a:t>
            </a:r>
          </a:p>
        </p:txBody>
      </p:sp>
      <p:sp>
        <p:nvSpPr>
          <p:cNvPr id="4" name="TextBox 4"/>
          <p:cNvSpPr txBox="1"/>
          <p:nvPr/>
        </p:nvSpPr>
        <p:spPr>
          <a:xfrm>
            <a:off x="7493740" y="1253807"/>
            <a:ext cx="10589945" cy="7452935"/>
          </a:xfrm>
          <a:prstGeom prst="rect">
            <a:avLst/>
          </a:prstGeom>
        </p:spPr>
        <p:txBody>
          <a:bodyPr lIns="0" tIns="0" rIns="0" bIns="0" rtlCol="0" anchor="t">
            <a:spAutoFit/>
          </a:bodyPr>
          <a:lstStyle/>
          <a:p>
            <a:pPr marL="655552" lvl="1" indent="-327776" algn="l">
              <a:lnSpc>
                <a:spcPts val="6649"/>
              </a:lnSpc>
              <a:buFont typeface="Arial"/>
              <a:buChar char="•"/>
            </a:pPr>
            <a:r>
              <a:rPr lang="en-US" sz="3036">
                <a:solidFill>
                  <a:srgbClr val="000000"/>
                </a:solidFill>
                <a:latin typeface="Times New Roman"/>
                <a:ea typeface="Times New Roman"/>
                <a:cs typeface="Times New Roman"/>
                <a:sym typeface="Times New Roman"/>
              </a:rPr>
              <a:t>Users interact with the application through the frontend interface developed using React.js and Tailwind CSS.</a:t>
            </a:r>
          </a:p>
          <a:p>
            <a:pPr marL="655552" lvl="1" indent="-327776" algn="l">
              <a:lnSpc>
                <a:spcPts val="6649"/>
              </a:lnSpc>
              <a:buFont typeface="Arial"/>
              <a:buChar char="•"/>
            </a:pPr>
            <a:r>
              <a:rPr lang="en-US" sz="3036">
                <a:solidFill>
                  <a:srgbClr val="000000"/>
                </a:solidFill>
                <a:latin typeface="Times New Roman"/>
                <a:ea typeface="Times New Roman"/>
                <a:cs typeface="Times New Roman"/>
                <a:sym typeface="Times New Roman"/>
              </a:rPr>
              <a:t>The frontend sends API requests to the backend server.</a:t>
            </a:r>
          </a:p>
          <a:p>
            <a:pPr marL="655552" lvl="1" indent="-327776" algn="l">
              <a:lnSpc>
                <a:spcPts val="6649"/>
              </a:lnSpc>
              <a:buFont typeface="Arial"/>
              <a:buChar char="•"/>
            </a:pPr>
            <a:r>
              <a:rPr lang="en-US" sz="3036">
                <a:solidFill>
                  <a:srgbClr val="000000"/>
                </a:solidFill>
                <a:latin typeface="Times New Roman"/>
                <a:ea typeface="Times New Roman"/>
                <a:cs typeface="Times New Roman"/>
                <a:sym typeface="Times New Roman"/>
              </a:rPr>
              <a:t>The backend developed using Node.js and Express.js handles authentication, course management, quizzes, and videos.</a:t>
            </a:r>
          </a:p>
          <a:p>
            <a:pPr marL="655552" lvl="1" indent="-327776" algn="l">
              <a:lnSpc>
                <a:spcPts val="6649"/>
              </a:lnSpc>
              <a:buFont typeface="Arial"/>
              <a:buChar char="•"/>
            </a:pPr>
            <a:r>
              <a:rPr lang="en-US" sz="3036">
                <a:solidFill>
                  <a:srgbClr val="000000"/>
                </a:solidFill>
                <a:latin typeface="Times New Roman"/>
                <a:ea typeface="Times New Roman"/>
                <a:cs typeface="Times New Roman"/>
                <a:sym typeface="Times New Roman"/>
              </a:rPr>
              <a:t>MongoDB stores user details, course information, quiz results, and learning data.</a:t>
            </a:r>
          </a:p>
          <a:p>
            <a:pPr marL="655552" lvl="1" indent="-327776" algn="l">
              <a:lnSpc>
                <a:spcPts val="6649"/>
              </a:lnSpc>
              <a:buFont typeface="Arial"/>
              <a:buChar char="•"/>
            </a:pPr>
            <a:r>
              <a:rPr lang="en-US" sz="3036">
                <a:solidFill>
                  <a:srgbClr val="000000"/>
                </a:solidFill>
                <a:latin typeface="Times New Roman"/>
                <a:ea typeface="Times New Roman"/>
                <a:cs typeface="Times New Roman"/>
                <a:sym typeface="Times New Roman"/>
              </a:rPr>
              <a:t>The frontend is deployed on Vercel and the backend is hosted on Render.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63503" y="1324610"/>
            <a:ext cx="9144000" cy="8894230"/>
          </a:xfrm>
          <a:prstGeom prst="rect">
            <a:avLst/>
          </a:prstGeom>
        </p:spPr>
        <p:txBody>
          <a:bodyPr lIns="0" tIns="0" rIns="0" bIns="0" rtlCol="0" anchor="t">
            <a:spAutoFit/>
          </a:bodyPr>
          <a:lstStyle/>
          <a:p>
            <a:pPr>
              <a:lnSpc>
                <a:spcPts val="6345"/>
              </a:lnSpc>
            </a:pPr>
            <a:r>
              <a:rPr lang="en-US" sz="2800" b="1" spc="-113" dirty="0">
                <a:solidFill>
                  <a:srgbClr val="000000"/>
                </a:solidFill>
                <a:latin typeface="Times New Roman Bold"/>
                <a:ea typeface="Times New Roman Bold"/>
                <a:cs typeface="Times New Roman Bold"/>
                <a:sym typeface="Times New Roman Bold"/>
              </a:rPr>
              <a:t>User Features</a:t>
            </a:r>
          </a:p>
          <a:p>
            <a:pPr marL="604519" lvl="1" indent="-302260" algn="l">
              <a:lnSpc>
                <a:spcPts val="6411"/>
              </a:lnSpc>
              <a:buFont typeface="Arial"/>
              <a:buChar char="•"/>
            </a:pPr>
            <a:r>
              <a:rPr lang="en-US" sz="2799" spc="-83" dirty="0">
                <a:solidFill>
                  <a:srgbClr val="000000"/>
                </a:solidFill>
                <a:latin typeface="Times New Roman"/>
                <a:ea typeface="Times New Roman"/>
                <a:cs typeface="Times New Roman"/>
                <a:sym typeface="Times New Roman"/>
              </a:rPr>
              <a:t>User Registration System</a:t>
            </a:r>
          </a:p>
          <a:p>
            <a:pPr marL="604519" lvl="1" indent="-302260" algn="l">
              <a:lnSpc>
                <a:spcPts val="6411"/>
              </a:lnSpc>
              <a:buFont typeface="Arial"/>
              <a:buChar char="•"/>
            </a:pPr>
            <a:r>
              <a:rPr lang="en-US" sz="2799" spc="-83" dirty="0">
                <a:solidFill>
                  <a:srgbClr val="000000"/>
                </a:solidFill>
                <a:latin typeface="Times New Roman"/>
                <a:ea typeface="Times New Roman"/>
                <a:cs typeface="Times New Roman"/>
                <a:sym typeface="Times New Roman"/>
              </a:rPr>
              <a:t>Secure Login and Authentication</a:t>
            </a:r>
          </a:p>
          <a:p>
            <a:pPr marL="604519" lvl="1" indent="-302260" algn="l">
              <a:lnSpc>
                <a:spcPts val="6411"/>
              </a:lnSpc>
              <a:buFont typeface="Arial"/>
              <a:buChar char="•"/>
            </a:pPr>
            <a:r>
              <a:rPr lang="en-US" sz="2799" spc="-83" dirty="0">
                <a:solidFill>
                  <a:srgbClr val="000000"/>
                </a:solidFill>
                <a:latin typeface="Times New Roman"/>
                <a:ea typeface="Times New Roman"/>
                <a:cs typeface="Times New Roman"/>
                <a:sym typeface="Times New Roman"/>
              </a:rPr>
              <a:t>Interactive User Dashboard</a:t>
            </a:r>
          </a:p>
          <a:p>
            <a:pPr marL="604519" lvl="1" indent="-302260" algn="l">
              <a:lnSpc>
                <a:spcPts val="6411"/>
              </a:lnSpc>
              <a:buFont typeface="Arial"/>
              <a:buChar char="•"/>
            </a:pPr>
            <a:r>
              <a:rPr lang="en-US" sz="2799" spc="-83" dirty="0">
                <a:solidFill>
                  <a:srgbClr val="000000"/>
                </a:solidFill>
                <a:latin typeface="Times New Roman"/>
                <a:ea typeface="Times New Roman"/>
                <a:cs typeface="Times New Roman"/>
                <a:sym typeface="Times New Roman"/>
              </a:rPr>
              <a:t>Video Learning Modules</a:t>
            </a:r>
          </a:p>
          <a:p>
            <a:pPr marL="604519" lvl="1" indent="-302260" algn="l">
              <a:lnSpc>
                <a:spcPts val="6411"/>
              </a:lnSpc>
              <a:buFont typeface="Arial"/>
              <a:buChar char="•"/>
            </a:pPr>
            <a:r>
              <a:rPr lang="en-US" sz="2799" spc="-83" dirty="0">
                <a:solidFill>
                  <a:srgbClr val="000000"/>
                </a:solidFill>
                <a:latin typeface="Times New Roman"/>
                <a:ea typeface="Times New Roman"/>
                <a:cs typeface="Times New Roman"/>
                <a:sym typeface="Times New Roman"/>
              </a:rPr>
              <a:t>Online Quiz Functionality</a:t>
            </a:r>
          </a:p>
          <a:p>
            <a:pPr marL="604519" lvl="1" indent="-302260" algn="l">
              <a:lnSpc>
                <a:spcPts val="6411"/>
              </a:lnSpc>
              <a:buFont typeface="Arial"/>
              <a:buChar char="•"/>
            </a:pPr>
            <a:r>
              <a:rPr lang="en-US" sz="2799" spc="-83" dirty="0">
                <a:solidFill>
                  <a:srgbClr val="000000"/>
                </a:solidFill>
                <a:latin typeface="Times New Roman"/>
                <a:ea typeface="Times New Roman"/>
                <a:cs typeface="Times New Roman"/>
                <a:sym typeface="Times New Roman"/>
              </a:rPr>
              <a:t>Course Access and Management</a:t>
            </a:r>
          </a:p>
          <a:p>
            <a:pPr marL="604519" lvl="1" indent="-302260" algn="l">
              <a:lnSpc>
                <a:spcPts val="6411"/>
              </a:lnSpc>
              <a:buFont typeface="Arial"/>
              <a:buChar char="•"/>
            </a:pPr>
            <a:r>
              <a:rPr lang="en-US" sz="2799" spc="-83" dirty="0">
                <a:solidFill>
                  <a:srgbClr val="000000"/>
                </a:solidFill>
                <a:latin typeface="Times New Roman"/>
                <a:ea typeface="Times New Roman"/>
                <a:cs typeface="Times New Roman"/>
                <a:sym typeface="Times New Roman"/>
              </a:rPr>
              <a:t>Responsive Design for All Devices</a:t>
            </a:r>
          </a:p>
          <a:p>
            <a:pPr marL="604519" lvl="1" indent="-302260" algn="l">
              <a:lnSpc>
                <a:spcPts val="6411"/>
              </a:lnSpc>
              <a:buFont typeface="Arial"/>
              <a:buChar char="•"/>
            </a:pPr>
            <a:r>
              <a:rPr lang="en-US" sz="2799" spc="-83" dirty="0">
                <a:solidFill>
                  <a:srgbClr val="000000"/>
                </a:solidFill>
                <a:latin typeface="Times New Roman"/>
                <a:ea typeface="Times New Roman"/>
                <a:cs typeface="Times New Roman"/>
                <a:sym typeface="Times New Roman"/>
              </a:rPr>
              <a:t>Progress Tracking System</a:t>
            </a:r>
          </a:p>
          <a:p>
            <a:pPr marL="604519" lvl="1" indent="-302260" algn="l">
              <a:lnSpc>
                <a:spcPts val="6411"/>
              </a:lnSpc>
              <a:buFont typeface="Arial"/>
              <a:buChar char="•"/>
            </a:pPr>
            <a:r>
              <a:rPr lang="en-US" sz="2799" spc="-83" dirty="0">
                <a:solidFill>
                  <a:srgbClr val="000000"/>
                </a:solidFill>
                <a:latin typeface="Times New Roman"/>
                <a:ea typeface="Times New Roman"/>
                <a:cs typeface="Times New Roman"/>
                <a:sym typeface="Times New Roman"/>
              </a:rPr>
              <a:t>Certificate Access After Completion</a:t>
            </a:r>
          </a:p>
          <a:p>
            <a:pPr marL="604519" lvl="1" indent="-302260" algn="l">
              <a:lnSpc>
                <a:spcPts val="6411"/>
              </a:lnSpc>
              <a:buFont typeface="Arial"/>
              <a:buChar char="•"/>
            </a:pPr>
            <a:r>
              <a:rPr lang="en-US" sz="2799" spc="-83" dirty="0">
                <a:solidFill>
                  <a:srgbClr val="000000"/>
                </a:solidFill>
                <a:latin typeface="Times New Roman"/>
                <a:ea typeface="Times New Roman"/>
                <a:cs typeface="Times New Roman"/>
                <a:sym typeface="Times New Roman"/>
              </a:rPr>
              <a:t>Easy Navigation and User-Friendly Interface</a:t>
            </a:r>
          </a:p>
        </p:txBody>
      </p:sp>
      <p:sp>
        <p:nvSpPr>
          <p:cNvPr id="3" name="TextBox 3"/>
          <p:cNvSpPr txBox="1"/>
          <p:nvPr/>
        </p:nvSpPr>
        <p:spPr>
          <a:xfrm>
            <a:off x="5943600" y="68160"/>
            <a:ext cx="4458316"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Features</a:t>
            </a:r>
          </a:p>
        </p:txBody>
      </p:sp>
      <p:sp>
        <p:nvSpPr>
          <p:cNvPr id="4" name="TextBox 4"/>
          <p:cNvSpPr txBox="1"/>
          <p:nvPr/>
        </p:nvSpPr>
        <p:spPr>
          <a:xfrm>
            <a:off x="9526574" y="1015365"/>
            <a:ext cx="8761426" cy="9044912"/>
          </a:xfrm>
          <a:prstGeom prst="rect">
            <a:avLst/>
          </a:prstGeom>
        </p:spPr>
        <p:txBody>
          <a:bodyPr lIns="0" tIns="0" rIns="0" bIns="0" rtlCol="0" anchor="t">
            <a:spAutoFit/>
          </a:bodyPr>
          <a:lstStyle/>
          <a:p>
            <a:pPr>
              <a:lnSpc>
                <a:spcPts val="6535"/>
              </a:lnSpc>
            </a:pPr>
            <a:r>
              <a:rPr lang="en-US" sz="2800" b="1" dirty="0">
                <a:solidFill>
                  <a:srgbClr val="000000"/>
                </a:solidFill>
                <a:latin typeface="Times New Roman Bold"/>
                <a:ea typeface="Times New Roman Bold"/>
                <a:cs typeface="Times New Roman Bold"/>
                <a:sym typeface="Times New Roman Bold"/>
              </a:rPr>
              <a:t>System Features</a:t>
            </a:r>
          </a:p>
          <a:p>
            <a:pPr marL="604519" lvl="1" indent="-302260" algn="l">
              <a:lnSpc>
                <a:spcPts val="6523"/>
              </a:lnSpc>
              <a:buFont typeface="Arial"/>
              <a:buChar char="•"/>
            </a:pPr>
            <a:r>
              <a:rPr lang="en-US" sz="2799" dirty="0">
                <a:solidFill>
                  <a:srgbClr val="000000"/>
                </a:solidFill>
                <a:latin typeface="Times New Roman"/>
                <a:ea typeface="Times New Roman"/>
                <a:cs typeface="Times New Roman"/>
                <a:sym typeface="Times New Roman"/>
              </a:rPr>
              <a:t>JWT-Based Authentication System</a:t>
            </a:r>
          </a:p>
          <a:p>
            <a:pPr marL="604519" lvl="1" indent="-302260" algn="l">
              <a:lnSpc>
                <a:spcPts val="6523"/>
              </a:lnSpc>
              <a:buFont typeface="Arial"/>
              <a:buChar char="•"/>
            </a:pPr>
            <a:r>
              <a:rPr lang="en-US" sz="2799" dirty="0">
                <a:solidFill>
                  <a:srgbClr val="000000"/>
                </a:solidFill>
                <a:latin typeface="Times New Roman"/>
                <a:ea typeface="Times New Roman"/>
                <a:cs typeface="Times New Roman"/>
                <a:sym typeface="Times New Roman"/>
              </a:rPr>
              <a:t>REST API Integration</a:t>
            </a:r>
          </a:p>
          <a:p>
            <a:pPr marL="604519" lvl="1" indent="-302260" algn="l">
              <a:lnSpc>
                <a:spcPts val="6523"/>
              </a:lnSpc>
              <a:buFont typeface="Arial"/>
              <a:buChar char="•"/>
            </a:pPr>
            <a:r>
              <a:rPr lang="en-US" sz="2799" dirty="0">
                <a:solidFill>
                  <a:srgbClr val="000000"/>
                </a:solidFill>
                <a:latin typeface="Times New Roman"/>
                <a:ea typeface="Times New Roman"/>
                <a:cs typeface="Times New Roman"/>
                <a:sym typeface="Times New Roman"/>
              </a:rPr>
              <a:t>MongoDB Database Connectivity</a:t>
            </a:r>
          </a:p>
          <a:p>
            <a:pPr marL="604519" lvl="1" indent="-302260" algn="l">
              <a:lnSpc>
                <a:spcPts val="6523"/>
              </a:lnSpc>
              <a:buFont typeface="Arial"/>
              <a:buChar char="•"/>
            </a:pPr>
            <a:r>
              <a:rPr lang="en-US" sz="2799" dirty="0">
                <a:solidFill>
                  <a:srgbClr val="000000"/>
                </a:solidFill>
                <a:latin typeface="Times New Roman"/>
                <a:ea typeface="Times New Roman"/>
                <a:cs typeface="Times New Roman"/>
                <a:sym typeface="Times New Roman"/>
              </a:rPr>
              <a:t>Secure Backend Architecture</a:t>
            </a:r>
          </a:p>
          <a:p>
            <a:pPr marL="604519" lvl="1" indent="-302260" algn="l">
              <a:lnSpc>
                <a:spcPts val="6523"/>
              </a:lnSpc>
              <a:buFont typeface="Arial"/>
              <a:buChar char="•"/>
            </a:pPr>
            <a:r>
              <a:rPr lang="en-US" sz="2799" dirty="0">
                <a:solidFill>
                  <a:srgbClr val="000000"/>
                </a:solidFill>
                <a:latin typeface="Times New Roman"/>
                <a:ea typeface="Times New Roman"/>
                <a:cs typeface="Times New Roman"/>
                <a:sym typeface="Times New Roman"/>
              </a:rPr>
              <a:t>Fast and Smooth Performance</a:t>
            </a:r>
          </a:p>
          <a:p>
            <a:pPr marL="604519" lvl="1" indent="-302260" algn="l">
              <a:lnSpc>
                <a:spcPts val="6523"/>
              </a:lnSpc>
              <a:buFont typeface="Arial"/>
              <a:buChar char="•"/>
            </a:pPr>
            <a:r>
              <a:rPr lang="en-US" sz="2799" dirty="0">
                <a:solidFill>
                  <a:srgbClr val="000000"/>
                </a:solidFill>
                <a:latin typeface="Times New Roman"/>
                <a:ea typeface="Times New Roman"/>
                <a:cs typeface="Times New Roman"/>
                <a:sym typeface="Times New Roman"/>
              </a:rPr>
              <a:t>Frontend-Backend Communication</a:t>
            </a:r>
          </a:p>
          <a:p>
            <a:pPr marL="604519" lvl="1" indent="-302260" algn="l">
              <a:lnSpc>
                <a:spcPts val="6523"/>
              </a:lnSpc>
              <a:buFont typeface="Arial"/>
              <a:buChar char="•"/>
            </a:pPr>
            <a:r>
              <a:rPr lang="en-US" sz="2799" dirty="0">
                <a:solidFill>
                  <a:srgbClr val="000000"/>
                </a:solidFill>
                <a:latin typeface="Times New Roman"/>
                <a:ea typeface="Times New Roman"/>
                <a:cs typeface="Times New Roman"/>
                <a:sym typeface="Times New Roman"/>
              </a:rPr>
              <a:t>Responsive UI using Tailwind CSS</a:t>
            </a:r>
          </a:p>
          <a:p>
            <a:pPr marL="604519" lvl="1" indent="-302260" algn="l">
              <a:lnSpc>
                <a:spcPts val="6523"/>
              </a:lnSpc>
              <a:buFont typeface="Arial"/>
              <a:buChar char="•"/>
            </a:pPr>
            <a:r>
              <a:rPr lang="en-US" sz="2799" dirty="0">
                <a:solidFill>
                  <a:srgbClr val="000000"/>
                </a:solidFill>
                <a:latin typeface="Times New Roman"/>
                <a:ea typeface="Times New Roman"/>
                <a:cs typeface="Times New Roman"/>
                <a:sym typeface="Times New Roman"/>
              </a:rPr>
              <a:t>Scalable MERN Stack Architecture</a:t>
            </a:r>
          </a:p>
          <a:p>
            <a:pPr marL="604519" lvl="1" indent="-302260" algn="l">
              <a:lnSpc>
                <a:spcPts val="6523"/>
              </a:lnSpc>
              <a:buFont typeface="Arial"/>
              <a:buChar char="•"/>
            </a:pPr>
            <a:r>
              <a:rPr lang="en-US" sz="2799" dirty="0">
                <a:solidFill>
                  <a:srgbClr val="000000"/>
                </a:solidFill>
                <a:latin typeface="Times New Roman"/>
                <a:ea typeface="Times New Roman"/>
                <a:cs typeface="Times New Roman"/>
                <a:sym typeface="Times New Roman"/>
              </a:rPr>
              <a:t>Real-Time Data Handling</a:t>
            </a:r>
          </a:p>
          <a:p>
            <a:pPr marL="604519" lvl="1" indent="-302260" algn="l">
              <a:lnSpc>
                <a:spcPts val="6523"/>
              </a:lnSpc>
              <a:buFont typeface="Arial"/>
              <a:buChar char="•"/>
            </a:pPr>
            <a:r>
              <a:rPr lang="en-US" sz="2799" dirty="0">
                <a:solidFill>
                  <a:srgbClr val="000000"/>
                </a:solidFill>
                <a:latin typeface="Times New Roman"/>
                <a:ea typeface="Times New Roman"/>
                <a:cs typeface="Times New Roman"/>
                <a:sym typeface="Times New Roman"/>
              </a:rPr>
              <a:t>Deployment using </a:t>
            </a:r>
            <a:r>
              <a:rPr lang="en-US" sz="2799" dirty="0" err="1">
                <a:solidFill>
                  <a:srgbClr val="000000"/>
                </a:solidFill>
                <a:latin typeface="Times New Roman"/>
                <a:ea typeface="Times New Roman"/>
                <a:cs typeface="Times New Roman"/>
                <a:sym typeface="Times New Roman"/>
              </a:rPr>
              <a:t>Vercel</a:t>
            </a:r>
            <a:r>
              <a:rPr lang="en-US" sz="2799" dirty="0">
                <a:solidFill>
                  <a:srgbClr val="000000"/>
                </a:solidFill>
                <a:latin typeface="Times New Roman"/>
                <a:ea typeface="Times New Roman"/>
                <a:cs typeface="Times New Roman"/>
                <a:sym typeface="Times New Roman"/>
              </a:rPr>
              <a:t> and Render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70905" y="873570"/>
            <a:ext cx="14023635" cy="8621776"/>
          </a:xfrm>
          <a:prstGeom prst="rect">
            <a:avLst/>
          </a:prstGeom>
        </p:spPr>
        <p:txBody>
          <a:bodyPr lIns="0" tIns="0" rIns="0" bIns="0" rtlCol="0" anchor="t">
            <a:spAutoFit/>
          </a:bodyPr>
          <a:lstStyle/>
          <a:p>
            <a:pPr algn="l">
              <a:lnSpc>
                <a:spcPts val="6271"/>
              </a:lnSpc>
            </a:pPr>
            <a:endParaRPr dirty="0"/>
          </a:p>
          <a:p>
            <a:pPr marL="604519" lvl="1" indent="-302260" algn="l">
              <a:lnSpc>
                <a:spcPts val="6271"/>
              </a:lnSpc>
              <a:buFont typeface="Arial"/>
              <a:buChar char="•"/>
            </a:pPr>
            <a:r>
              <a:rPr lang="en-US" sz="2799" dirty="0">
                <a:solidFill>
                  <a:srgbClr val="000000"/>
                </a:solidFill>
                <a:latin typeface="Times New Roman"/>
                <a:ea typeface="Times New Roman"/>
                <a:cs typeface="Times New Roman"/>
                <a:sym typeface="Times New Roman"/>
              </a:rPr>
              <a:t>React.js and Tailwind CSS used for frontend development</a:t>
            </a:r>
          </a:p>
          <a:p>
            <a:pPr marL="604519" lvl="1" indent="-302260" algn="l">
              <a:lnSpc>
                <a:spcPts val="6271"/>
              </a:lnSpc>
              <a:buFont typeface="Arial"/>
              <a:buChar char="•"/>
            </a:pPr>
            <a:r>
              <a:rPr lang="en-US" sz="2799" dirty="0">
                <a:solidFill>
                  <a:srgbClr val="000000"/>
                </a:solidFill>
                <a:latin typeface="Times New Roman"/>
                <a:ea typeface="Times New Roman"/>
                <a:cs typeface="Times New Roman"/>
                <a:sym typeface="Times New Roman"/>
              </a:rPr>
              <a:t>Node.js and Express.js used for backend API creation</a:t>
            </a:r>
          </a:p>
          <a:p>
            <a:pPr marL="604519" lvl="1" indent="-302260" algn="l">
              <a:lnSpc>
                <a:spcPts val="6271"/>
              </a:lnSpc>
              <a:buFont typeface="Arial"/>
              <a:buChar char="•"/>
            </a:pPr>
            <a:r>
              <a:rPr lang="en-US" sz="2799" dirty="0">
                <a:solidFill>
                  <a:srgbClr val="000000"/>
                </a:solidFill>
                <a:latin typeface="Times New Roman"/>
                <a:ea typeface="Times New Roman"/>
                <a:cs typeface="Times New Roman"/>
                <a:sym typeface="Times New Roman"/>
              </a:rPr>
              <a:t>MongoDB used for database management</a:t>
            </a:r>
          </a:p>
          <a:p>
            <a:pPr marL="604519" lvl="1" indent="-302260" algn="l">
              <a:lnSpc>
                <a:spcPts val="6271"/>
              </a:lnSpc>
              <a:buFont typeface="Arial"/>
              <a:buChar char="•"/>
            </a:pPr>
            <a:r>
              <a:rPr lang="en-US" sz="2799" dirty="0">
                <a:solidFill>
                  <a:srgbClr val="000000"/>
                </a:solidFill>
                <a:latin typeface="Times New Roman"/>
                <a:ea typeface="Times New Roman"/>
                <a:cs typeface="Times New Roman"/>
                <a:sym typeface="Times New Roman"/>
              </a:rPr>
              <a:t>JWT authentication implemented for secure login</a:t>
            </a:r>
          </a:p>
          <a:p>
            <a:pPr marL="604519" lvl="1" indent="-302260" algn="l">
              <a:lnSpc>
                <a:spcPts val="6271"/>
              </a:lnSpc>
              <a:buFont typeface="Arial"/>
              <a:buChar char="•"/>
            </a:pPr>
            <a:r>
              <a:rPr lang="en-US" sz="2799" dirty="0">
                <a:solidFill>
                  <a:srgbClr val="000000"/>
                </a:solidFill>
                <a:latin typeface="Times New Roman"/>
                <a:ea typeface="Times New Roman"/>
                <a:cs typeface="Times New Roman"/>
                <a:sym typeface="Times New Roman"/>
              </a:rPr>
              <a:t>Video learning modules integrated into the system</a:t>
            </a:r>
          </a:p>
          <a:p>
            <a:pPr marL="604519" lvl="1" indent="-302260" algn="l">
              <a:lnSpc>
                <a:spcPts val="6271"/>
              </a:lnSpc>
              <a:buFont typeface="Arial"/>
              <a:buChar char="•"/>
            </a:pPr>
            <a:r>
              <a:rPr lang="en-US" sz="2799" dirty="0">
                <a:solidFill>
                  <a:srgbClr val="000000"/>
                </a:solidFill>
                <a:latin typeface="Times New Roman"/>
                <a:ea typeface="Times New Roman"/>
                <a:cs typeface="Times New Roman"/>
                <a:sym typeface="Times New Roman"/>
              </a:rPr>
              <a:t>Quiz functionality added for student assessment</a:t>
            </a:r>
          </a:p>
          <a:p>
            <a:pPr marL="604519" lvl="1" indent="-302260" algn="l">
              <a:lnSpc>
                <a:spcPts val="6271"/>
              </a:lnSpc>
              <a:buFont typeface="Arial"/>
              <a:buChar char="•"/>
            </a:pPr>
            <a:r>
              <a:rPr lang="en-US" sz="2799" dirty="0">
                <a:solidFill>
                  <a:srgbClr val="000000"/>
                </a:solidFill>
                <a:latin typeface="Times New Roman"/>
                <a:ea typeface="Times New Roman"/>
                <a:cs typeface="Times New Roman"/>
                <a:sym typeface="Times New Roman"/>
              </a:rPr>
              <a:t>Application tested on desktop and mobile devices</a:t>
            </a:r>
          </a:p>
          <a:p>
            <a:pPr marL="604519" lvl="1" indent="-302260" algn="l">
              <a:lnSpc>
                <a:spcPts val="6271"/>
              </a:lnSpc>
              <a:buFont typeface="Arial"/>
              <a:buChar char="•"/>
            </a:pPr>
            <a:r>
              <a:rPr lang="en-US" sz="2799" dirty="0">
                <a:solidFill>
                  <a:srgbClr val="000000"/>
                </a:solidFill>
                <a:latin typeface="Times New Roman"/>
                <a:ea typeface="Times New Roman"/>
                <a:cs typeface="Times New Roman"/>
                <a:sym typeface="Times New Roman"/>
              </a:rPr>
              <a:t>Browser compatibility checked using Chrome and Edge</a:t>
            </a:r>
          </a:p>
          <a:p>
            <a:pPr marL="604519" lvl="1" indent="-302260" algn="l">
              <a:lnSpc>
                <a:spcPts val="6271"/>
              </a:lnSpc>
              <a:buFont typeface="Arial"/>
              <a:buChar char="•"/>
            </a:pPr>
            <a:r>
              <a:rPr lang="en-US" sz="2799" dirty="0">
                <a:solidFill>
                  <a:srgbClr val="000000"/>
                </a:solidFill>
                <a:latin typeface="Times New Roman"/>
                <a:ea typeface="Times New Roman"/>
                <a:cs typeface="Times New Roman"/>
                <a:sym typeface="Times New Roman"/>
              </a:rPr>
              <a:t>Frontend deployed on </a:t>
            </a:r>
            <a:r>
              <a:rPr lang="en-US" sz="2799" dirty="0" err="1">
                <a:solidFill>
                  <a:srgbClr val="000000"/>
                </a:solidFill>
                <a:latin typeface="Times New Roman"/>
                <a:ea typeface="Times New Roman"/>
                <a:cs typeface="Times New Roman"/>
                <a:sym typeface="Times New Roman"/>
              </a:rPr>
              <a:t>Vercel</a:t>
            </a:r>
            <a:r>
              <a:rPr lang="en-US" sz="2799" dirty="0">
                <a:solidFill>
                  <a:srgbClr val="000000"/>
                </a:solidFill>
                <a:latin typeface="Times New Roman"/>
                <a:ea typeface="Times New Roman"/>
                <a:cs typeface="Times New Roman"/>
                <a:sym typeface="Times New Roman"/>
              </a:rPr>
              <a:t> platform</a:t>
            </a:r>
          </a:p>
          <a:p>
            <a:pPr marL="604519" lvl="1" indent="-302260" algn="l">
              <a:lnSpc>
                <a:spcPts val="6271"/>
              </a:lnSpc>
              <a:buFont typeface="Arial"/>
              <a:buChar char="•"/>
            </a:pPr>
            <a:r>
              <a:rPr lang="en-US" sz="2799" dirty="0">
                <a:solidFill>
                  <a:srgbClr val="000000"/>
                </a:solidFill>
                <a:latin typeface="Times New Roman"/>
                <a:ea typeface="Times New Roman"/>
                <a:cs typeface="Times New Roman"/>
                <a:sym typeface="Times New Roman"/>
              </a:rPr>
              <a:t>Backend server hosted on Render platform</a:t>
            </a:r>
          </a:p>
        </p:txBody>
      </p:sp>
      <p:sp>
        <p:nvSpPr>
          <p:cNvPr id="3" name="TextBox 3"/>
          <p:cNvSpPr txBox="1"/>
          <p:nvPr/>
        </p:nvSpPr>
        <p:spPr>
          <a:xfrm>
            <a:off x="5181600" y="558482"/>
            <a:ext cx="7772400"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Experimental Setup</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4572000" y="558482"/>
            <a:ext cx="8686800"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 Results / Findings</a:t>
            </a:r>
          </a:p>
        </p:txBody>
      </p:sp>
      <p:sp>
        <p:nvSpPr>
          <p:cNvPr id="3" name="TextBox 3"/>
          <p:cNvSpPr txBox="1"/>
          <p:nvPr/>
        </p:nvSpPr>
        <p:spPr>
          <a:xfrm>
            <a:off x="488522" y="1574301"/>
            <a:ext cx="10550128" cy="7646543"/>
          </a:xfrm>
          <a:prstGeom prst="rect">
            <a:avLst/>
          </a:prstGeom>
        </p:spPr>
        <p:txBody>
          <a:bodyPr lIns="0" tIns="0" rIns="0" bIns="0" rtlCol="0" anchor="t">
            <a:spAutoFit/>
          </a:bodyPr>
          <a:lstStyle/>
          <a:p>
            <a:pPr marL="604519" lvl="1" indent="-302260" algn="l">
              <a:lnSpc>
                <a:spcPts val="6075"/>
              </a:lnSpc>
              <a:buFont typeface="Arial"/>
              <a:buChar char="•"/>
            </a:pPr>
            <a:r>
              <a:rPr lang="en-US" sz="2799">
                <a:solidFill>
                  <a:srgbClr val="000000"/>
                </a:solidFill>
                <a:latin typeface="Times New Roman"/>
                <a:ea typeface="Times New Roman"/>
                <a:cs typeface="Times New Roman"/>
                <a:sym typeface="Times New Roman"/>
              </a:rPr>
              <a:t>Responsive online learning platform developed successfully</a:t>
            </a:r>
          </a:p>
          <a:p>
            <a:pPr marL="604519" lvl="1" indent="-302260" algn="l">
              <a:lnSpc>
                <a:spcPts val="6075"/>
              </a:lnSpc>
              <a:buFont typeface="Arial"/>
              <a:buChar char="•"/>
            </a:pPr>
            <a:r>
              <a:rPr lang="en-US" sz="2799">
                <a:solidFill>
                  <a:srgbClr val="000000"/>
                </a:solidFill>
                <a:latin typeface="Times New Roman"/>
                <a:ea typeface="Times New Roman"/>
                <a:cs typeface="Times New Roman"/>
                <a:sym typeface="Times New Roman"/>
              </a:rPr>
              <a:t>Secure login and authentication system implemented</a:t>
            </a:r>
          </a:p>
          <a:p>
            <a:pPr marL="604519" lvl="1" indent="-302260" algn="l">
              <a:lnSpc>
                <a:spcPts val="6075"/>
              </a:lnSpc>
              <a:buFont typeface="Arial"/>
              <a:buChar char="•"/>
            </a:pPr>
            <a:r>
              <a:rPr lang="en-US" sz="2799">
                <a:solidFill>
                  <a:srgbClr val="000000"/>
                </a:solidFill>
                <a:latin typeface="Times New Roman"/>
                <a:ea typeface="Times New Roman"/>
                <a:cs typeface="Times New Roman"/>
                <a:sym typeface="Times New Roman"/>
              </a:rPr>
              <a:t>Smooth frontend and backend communication achieved</a:t>
            </a:r>
          </a:p>
          <a:p>
            <a:pPr marL="604519" lvl="1" indent="-302260" algn="l">
              <a:lnSpc>
                <a:spcPts val="6075"/>
              </a:lnSpc>
              <a:buFont typeface="Arial"/>
              <a:buChar char="•"/>
            </a:pPr>
            <a:r>
              <a:rPr lang="en-US" sz="2799">
                <a:solidFill>
                  <a:srgbClr val="000000"/>
                </a:solidFill>
                <a:latin typeface="Times New Roman"/>
                <a:ea typeface="Times New Roman"/>
                <a:cs typeface="Times New Roman"/>
                <a:sym typeface="Times New Roman"/>
              </a:rPr>
              <a:t>Video learning modules working efficiently</a:t>
            </a:r>
          </a:p>
          <a:p>
            <a:pPr marL="604519" lvl="1" indent="-302260" algn="l">
              <a:lnSpc>
                <a:spcPts val="6075"/>
              </a:lnSpc>
              <a:buFont typeface="Arial"/>
              <a:buChar char="•"/>
            </a:pPr>
            <a:r>
              <a:rPr lang="en-US" sz="2799">
                <a:solidFill>
                  <a:srgbClr val="000000"/>
                </a:solidFill>
                <a:latin typeface="Times New Roman"/>
                <a:ea typeface="Times New Roman"/>
                <a:cs typeface="Times New Roman"/>
                <a:sym typeface="Times New Roman"/>
              </a:rPr>
              <a:t>Quiz functionality successfully integrated</a:t>
            </a:r>
          </a:p>
          <a:p>
            <a:pPr marL="604519" lvl="1" indent="-302260" algn="l">
              <a:lnSpc>
                <a:spcPts val="6075"/>
              </a:lnSpc>
              <a:buFont typeface="Arial"/>
              <a:buChar char="•"/>
            </a:pPr>
            <a:r>
              <a:rPr lang="en-US" sz="2799">
                <a:solidFill>
                  <a:srgbClr val="000000"/>
                </a:solidFill>
                <a:latin typeface="Times New Roman"/>
                <a:ea typeface="Times New Roman"/>
                <a:cs typeface="Times New Roman"/>
                <a:sym typeface="Times New Roman"/>
              </a:rPr>
              <a:t>MongoDB database storing user and course data properly</a:t>
            </a:r>
          </a:p>
          <a:p>
            <a:pPr marL="604519" lvl="1" indent="-302260" algn="l">
              <a:lnSpc>
                <a:spcPts val="6075"/>
              </a:lnSpc>
              <a:buFont typeface="Arial"/>
              <a:buChar char="•"/>
            </a:pPr>
            <a:r>
              <a:rPr lang="en-US" sz="2799">
                <a:solidFill>
                  <a:srgbClr val="000000"/>
                </a:solidFill>
                <a:latin typeface="Times New Roman"/>
                <a:ea typeface="Times New Roman"/>
                <a:cs typeface="Times New Roman"/>
                <a:sym typeface="Times New Roman"/>
              </a:rPr>
              <a:t>Fast loading speed and smooth navigation observed</a:t>
            </a:r>
          </a:p>
          <a:p>
            <a:pPr marL="604519" lvl="1" indent="-302260" algn="l">
              <a:lnSpc>
                <a:spcPts val="6075"/>
              </a:lnSpc>
              <a:buFont typeface="Arial"/>
              <a:buChar char="•"/>
            </a:pPr>
            <a:r>
              <a:rPr lang="en-US" sz="2799">
                <a:solidFill>
                  <a:srgbClr val="000000"/>
                </a:solidFill>
                <a:latin typeface="Times New Roman"/>
                <a:ea typeface="Times New Roman"/>
                <a:cs typeface="Times New Roman"/>
                <a:sym typeface="Times New Roman"/>
              </a:rPr>
              <a:t>User-friendly dashboard improved learning experience</a:t>
            </a:r>
          </a:p>
          <a:p>
            <a:pPr marL="604519" lvl="1" indent="-302260" algn="l">
              <a:lnSpc>
                <a:spcPts val="6075"/>
              </a:lnSpc>
              <a:buFont typeface="Arial"/>
              <a:buChar char="•"/>
            </a:pPr>
            <a:r>
              <a:rPr lang="en-US" sz="2799">
                <a:solidFill>
                  <a:srgbClr val="000000"/>
                </a:solidFill>
                <a:latin typeface="Times New Roman"/>
                <a:ea typeface="Times New Roman"/>
                <a:cs typeface="Times New Roman"/>
                <a:sym typeface="Times New Roman"/>
              </a:rPr>
              <a:t>Application tested successfully on multiple devices</a:t>
            </a:r>
          </a:p>
          <a:p>
            <a:pPr marL="604519" lvl="1" indent="-302260" algn="l">
              <a:lnSpc>
                <a:spcPts val="6075"/>
              </a:lnSpc>
              <a:buFont typeface="Arial"/>
              <a:buChar char="•"/>
            </a:pPr>
            <a:r>
              <a:rPr lang="en-US" sz="2799">
                <a:solidFill>
                  <a:srgbClr val="000000"/>
                </a:solidFill>
                <a:latin typeface="Times New Roman"/>
                <a:ea typeface="Times New Roman"/>
                <a:cs typeface="Times New Roman"/>
                <a:sym typeface="Times New Roman"/>
              </a:rPr>
              <a:t>Frontend and backend deployed successfully using Vercel and Render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3" name="TextBox 3"/>
          <p:cNvSpPr txBox="1"/>
          <p:nvPr/>
        </p:nvSpPr>
        <p:spPr>
          <a:xfrm>
            <a:off x="5482457" y="558482"/>
            <a:ext cx="4714556"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Summary Table</a:t>
            </a:r>
          </a:p>
        </p:txBody>
      </p:sp>
      <p:graphicFrame>
        <p:nvGraphicFramePr>
          <p:cNvPr id="8" name="Table 7">
            <a:extLst>
              <a:ext uri="{FF2B5EF4-FFF2-40B4-BE49-F238E27FC236}">
                <a16:creationId xmlns:a16="http://schemas.microsoft.com/office/drawing/2014/main" id="{BE4240AA-CFA6-8DC2-14EE-EC39CA986732}"/>
              </a:ext>
            </a:extLst>
          </p:cNvPr>
          <p:cNvGraphicFramePr>
            <a:graphicFrameLocks noGrp="1"/>
          </p:cNvGraphicFramePr>
          <p:nvPr>
            <p:extLst>
              <p:ext uri="{D42A27DB-BD31-4B8C-83A1-F6EECF244321}">
                <p14:modId xmlns:p14="http://schemas.microsoft.com/office/powerpoint/2010/main" val="2699405694"/>
              </p:ext>
            </p:extLst>
          </p:nvPr>
        </p:nvGraphicFramePr>
        <p:xfrm>
          <a:off x="990600" y="1485902"/>
          <a:ext cx="15392400" cy="7682591"/>
        </p:xfrm>
        <a:graphic>
          <a:graphicData uri="http://schemas.openxmlformats.org/drawingml/2006/table">
            <a:tbl>
              <a:tblPr/>
              <a:tblGrid>
                <a:gridCol w="5130800">
                  <a:extLst>
                    <a:ext uri="{9D8B030D-6E8A-4147-A177-3AD203B41FA5}">
                      <a16:colId xmlns:a16="http://schemas.microsoft.com/office/drawing/2014/main" val="315875635"/>
                    </a:ext>
                  </a:extLst>
                </a:gridCol>
                <a:gridCol w="5130800">
                  <a:extLst>
                    <a:ext uri="{9D8B030D-6E8A-4147-A177-3AD203B41FA5}">
                      <a16:colId xmlns:a16="http://schemas.microsoft.com/office/drawing/2014/main" val="172770334"/>
                    </a:ext>
                  </a:extLst>
                </a:gridCol>
                <a:gridCol w="5130800">
                  <a:extLst>
                    <a:ext uri="{9D8B030D-6E8A-4147-A177-3AD203B41FA5}">
                      <a16:colId xmlns:a16="http://schemas.microsoft.com/office/drawing/2014/main" val="3953631211"/>
                    </a:ext>
                  </a:extLst>
                </a:gridCol>
              </a:tblGrid>
              <a:tr h="651163">
                <a:tc>
                  <a:txBody>
                    <a:bodyPr/>
                    <a:lstStyle/>
                    <a:p>
                      <a:pPr>
                        <a:buNone/>
                      </a:pPr>
                      <a:r>
                        <a:rPr lang="en-IN" sz="2800" b="1" dirty="0">
                          <a:effectLst/>
                          <a:latin typeface="Times New Roman" panose="02020603050405020304" pitchFamily="18" charset="0"/>
                          <a:cs typeface="Times New Roman" panose="02020603050405020304" pitchFamily="18" charset="0"/>
                        </a:rPr>
                        <a:t>Feature</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b="1">
                          <a:effectLst/>
                          <a:latin typeface="Times New Roman" panose="02020603050405020304" pitchFamily="18" charset="0"/>
                          <a:cs typeface="Times New Roman" panose="02020603050405020304" pitchFamily="18" charset="0"/>
                        </a:rPr>
                        <a:t>Description</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b="1">
                          <a:effectLst/>
                          <a:latin typeface="Times New Roman" panose="02020603050405020304" pitchFamily="18" charset="0"/>
                          <a:cs typeface="Times New Roman" panose="02020603050405020304" pitchFamily="18" charset="0"/>
                        </a:rPr>
                        <a:t>Result</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extLst>
                  <a:ext uri="{0D108BD9-81ED-4DB2-BD59-A6C34878D82A}">
                    <a16:rowId xmlns:a16="http://schemas.microsoft.com/office/drawing/2014/main" val="1625985743"/>
                  </a:ext>
                </a:extLst>
              </a:tr>
              <a:tr h="651163">
                <a:tc>
                  <a:txBody>
                    <a:bodyPr/>
                    <a:lstStyle/>
                    <a:p>
                      <a:pPr>
                        <a:buNone/>
                      </a:pPr>
                      <a:r>
                        <a:rPr lang="en-IN" sz="2800">
                          <a:effectLst/>
                          <a:latin typeface="Times New Roman" panose="02020603050405020304" pitchFamily="18" charset="0"/>
                          <a:cs typeface="Times New Roman" panose="02020603050405020304" pitchFamily="18" charset="0"/>
                        </a:rPr>
                        <a:t>User Authentication</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US" sz="2800">
                          <a:effectLst/>
                          <a:latin typeface="Times New Roman" panose="02020603050405020304" pitchFamily="18" charset="0"/>
                          <a:cs typeface="Times New Roman" panose="02020603050405020304" pitchFamily="18" charset="0"/>
                        </a:rPr>
                        <a:t>Secure login and registration system</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Improved security</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extLst>
                  <a:ext uri="{0D108BD9-81ED-4DB2-BD59-A6C34878D82A}">
                    <a16:rowId xmlns:a16="http://schemas.microsoft.com/office/drawing/2014/main" val="675233650"/>
                  </a:ext>
                </a:extLst>
              </a:tr>
              <a:tr h="651163">
                <a:tc>
                  <a:txBody>
                    <a:bodyPr/>
                    <a:lstStyle/>
                    <a:p>
                      <a:pPr>
                        <a:buNone/>
                      </a:pPr>
                      <a:r>
                        <a:rPr lang="en-IN" sz="2800">
                          <a:effectLst/>
                          <a:latin typeface="Times New Roman" panose="02020603050405020304" pitchFamily="18" charset="0"/>
                          <a:cs typeface="Times New Roman" panose="02020603050405020304" pitchFamily="18" charset="0"/>
                        </a:rPr>
                        <a:t>Dashboard</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Interactive learning dashboard</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Better user experience</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extLst>
                  <a:ext uri="{0D108BD9-81ED-4DB2-BD59-A6C34878D82A}">
                    <a16:rowId xmlns:a16="http://schemas.microsoft.com/office/drawing/2014/main" val="3715120995"/>
                  </a:ext>
                </a:extLst>
              </a:tr>
              <a:tr h="651163">
                <a:tc>
                  <a:txBody>
                    <a:bodyPr/>
                    <a:lstStyle/>
                    <a:p>
                      <a:pPr>
                        <a:buNone/>
                      </a:pPr>
                      <a:r>
                        <a:rPr lang="en-IN" sz="2800">
                          <a:effectLst/>
                          <a:latin typeface="Times New Roman" panose="02020603050405020304" pitchFamily="18" charset="0"/>
                          <a:cs typeface="Times New Roman" panose="02020603050405020304" pitchFamily="18" charset="0"/>
                        </a:rPr>
                        <a:t>Video Modules</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Online video learning support</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Easy understanding</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extLst>
                  <a:ext uri="{0D108BD9-81ED-4DB2-BD59-A6C34878D82A}">
                    <a16:rowId xmlns:a16="http://schemas.microsoft.com/office/drawing/2014/main" val="851585116"/>
                  </a:ext>
                </a:extLst>
              </a:tr>
              <a:tr h="651163">
                <a:tc>
                  <a:txBody>
                    <a:bodyPr/>
                    <a:lstStyle/>
                    <a:p>
                      <a:pPr>
                        <a:buNone/>
                      </a:pPr>
                      <a:r>
                        <a:rPr lang="en-IN" sz="2800" dirty="0">
                          <a:effectLst/>
                          <a:latin typeface="Times New Roman" panose="02020603050405020304" pitchFamily="18" charset="0"/>
                          <a:cs typeface="Times New Roman" panose="02020603050405020304" pitchFamily="18" charset="0"/>
                        </a:rPr>
                        <a:t>Quiz System</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Conducts quizzes and assessments</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dirty="0">
                          <a:effectLst/>
                          <a:latin typeface="Times New Roman" panose="02020603050405020304" pitchFamily="18" charset="0"/>
                          <a:cs typeface="Times New Roman" panose="02020603050405020304" pitchFamily="18" charset="0"/>
                        </a:rPr>
                        <a:t>Knowledge evaluation</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extLst>
                  <a:ext uri="{0D108BD9-81ED-4DB2-BD59-A6C34878D82A}">
                    <a16:rowId xmlns:a16="http://schemas.microsoft.com/office/drawing/2014/main" val="1505198707"/>
                  </a:ext>
                </a:extLst>
              </a:tr>
              <a:tr h="651163">
                <a:tc>
                  <a:txBody>
                    <a:bodyPr/>
                    <a:lstStyle/>
                    <a:p>
                      <a:pPr>
                        <a:buNone/>
                      </a:pPr>
                      <a:r>
                        <a:rPr lang="en-IN" sz="2800">
                          <a:effectLst/>
                          <a:latin typeface="Times New Roman" panose="02020603050405020304" pitchFamily="18" charset="0"/>
                          <a:cs typeface="Times New Roman" panose="02020603050405020304" pitchFamily="18" charset="0"/>
                        </a:rPr>
                        <a:t>MongoDB Database</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US" sz="2800">
                          <a:effectLst/>
                          <a:latin typeface="Times New Roman" panose="02020603050405020304" pitchFamily="18" charset="0"/>
                          <a:cs typeface="Times New Roman" panose="02020603050405020304" pitchFamily="18" charset="0"/>
                        </a:rPr>
                        <a:t>Stores user and course data</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Efficient data management</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extLst>
                  <a:ext uri="{0D108BD9-81ED-4DB2-BD59-A6C34878D82A}">
                    <a16:rowId xmlns:a16="http://schemas.microsoft.com/office/drawing/2014/main" val="3340721259"/>
                  </a:ext>
                </a:extLst>
              </a:tr>
              <a:tr h="651163">
                <a:tc>
                  <a:txBody>
                    <a:bodyPr/>
                    <a:lstStyle/>
                    <a:p>
                      <a:pPr>
                        <a:buNone/>
                      </a:pPr>
                      <a:r>
                        <a:rPr lang="en-IN" sz="2800">
                          <a:effectLst/>
                          <a:latin typeface="Times New Roman" panose="02020603050405020304" pitchFamily="18" charset="0"/>
                          <a:cs typeface="Times New Roman" panose="02020603050405020304" pitchFamily="18" charset="0"/>
                        </a:rPr>
                        <a:t>REST APIs</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Connects frontend and backend</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Smooth communication</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extLst>
                  <a:ext uri="{0D108BD9-81ED-4DB2-BD59-A6C34878D82A}">
                    <a16:rowId xmlns:a16="http://schemas.microsoft.com/office/drawing/2014/main" val="2047141043"/>
                  </a:ext>
                </a:extLst>
              </a:tr>
              <a:tr h="651163">
                <a:tc>
                  <a:txBody>
                    <a:bodyPr/>
                    <a:lstStyle/>
                    <a:p>
                      <a:pPr>
                        <a:buNone/>
                      </a:pPr>
                      <a:r>
                        <a:rPr lang="en-IN" sz="2800">
                          <a:effectLst/>
                          <a:latin typeface="Times New Roman" panose="02020603050405020304" pitchFamily="18" charset="0"/>
                          <a:cs typeface="Times New Roman" panose="02020603050405020304" pitchFamily="18" charset="0"/>
                        </a:rPr>
                        <a:t>Responsive Design</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Supports all devices</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Better accessibility</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extLst>
                  <a:ext uri="{0D108BD9-81ED-4DB2-BD59-A6C34878D82A}">
                    <a16:rowId xmlns:a16="http://schemas.microsoft.com/office/drawing/2014/main" val="3642469227"/>
                  </a:ext>
                </a:extLst>
              </a:tr>
              <a:tr h="651163">
                <a:tc>
                  <a:txBody>
                    <a:bodyPr/>
                    <a:lstStyle/>
                    <a:p>
                      <a:pPr>
                        <a:buNone/>
                      </a:pPr>
                      <a:r>
                        <a:rPr lang="en-IN" sz="2800" dirty="0">
                          <a:effectLst/>
                          <a:latin typeface="Times New Roman" panose="02020603050405020304" pitchFamily="18" charset="0"/>
                          <a:cs typeface="Times New Roman" panose="02020603050405020304" pitchFamily="18" charset="0"/>
                        </a:rPr>
                        <a:t>Course Management</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Organizes learning resources</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Structured learning</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extLst>
                  <a:ext uri="{0D108BD9-81ED-4DB2-BD59-A6C34878D82A}">
                    <a16:rowId xmlns:a16="http://schemas.microsoft.com/office/drawing/2014/main" val="3736957486"/>
                  </a:ext>
                </a:extLst>
              </a:tr>
              <a:tr h="651163">
                <a:tc>
                  <a:txBody>
                    <a:bodyPr/>
                    <a:lstStyle/>
                    <a:p>
                      <a:pPr>
                        <a:buNone/>
                      </a:pPr>
                      <a:r>
                        <a:rPr lang="en-IN" sz="2800">
                          <a:effectLst/>
                          <a:latin typeface="Times New Roman" panose="02020603050405020304" pitchFamily="18" charset="0"/>
                          <a:cs typeface="Times New Roman" panose="02020603050405020304" pitchFamily="18" charset="0"/>
                        </a:rPr>
                        <a:t>Deployment</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US" sz="2800">
                          <a:effectLst/>
                          <a:latin typeface="Times New Roman" panose="02020603050405020304" pitchFamily="18" charset="0"/>
                          <a:cs typeface="Times New Roman" panose="02020603050405020304" pitchFamily="18" charset="0"/>
                        </a:rPr>
                        <a:t>Hosted on Vercel and Render</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a:effectLst/>
                          <a:latin typeface="Times New Roman" panose="02020603050405020304" pitchFamily="18" charset="0"/>
                          <a:cs typeface="Times New Roman" panose="02020603050405020304" pitchFamily="18" charset="0"/>
                        </a:rPr>
                        <a:t>Live accessibility</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extLst>
                  <a:ext uri="{0D108BD9-81ED-4DB2-BD59-A6C34878D82A}">
                    <a16:rowId xmlns:a16="http://schemas.microsoft.com/office/drawing/2014/main" val="3572644000"/>
                  </a:ext>
                </a:extLst>
              </a:tr>
              <a:tr h="651163">
                <a:tc>
                  <a:txBody>
                    <a:bodyPr/>
                    <a:lstStyle/>
                    <a:p>
                      <a:pPr>
                        <a:buNone/>
                      </a:pPr>
                      <a:r>
                        <a:rPr lang="en-IN" sz="2800">
                          <a:effectLst/>
                          <a:latin typeface="Times New Roman" panose="02020603050405020304" pitchFamily="18" charset="0"/>
                          <a:cs typeface="Times New Roman" panose="02020603050405020304" pitchFamily="18" charset="0"/>
                        </a:rPr>
                        <a:t>Performance</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US" sz="2800">
                          <a:effectLst/>
                          <a:latin typeface="Times New Roman" panose="02020603050405020304" pitchFamily="18" charset="0"/>
                          <a:cs typeface="Times New Roman" panose="02020603050405020304" pitchFamily="18" charset="0"/>
                        </a:rPr>
                        <a:t>Fast loading and smooth navigation</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tc>
                  <a:txBody>
                    <a:bodyPr/>
                    <a:lstStyle/>
                    <a:p>
                      <a:pPr>
                        <a:buNone/>
                      </a:pPr>
                      <a:r>
                        <a:rPr lang="en-IN" sz="2800" dirty="0">
                          <a:effectLst/>
                          <a:latin typeface="Times New Roman" panose="02020603050405020304" pitchFamily="18" charset="0"/>
                          <a:cs typeface="Times New Roman" panose="02020603050405020304" pitchFamily="18" charset="0"/>
                        </a:rPr>
                        <a:t>Improved efficiency</a:t>
                      </a:r>
                    </a:p>
                  </a:txBody>
                  <a:tcPr marL="57622" marR="57622" marT="28811" marB="28811" anchor="ctr">
                    <a:lnL w="6350" cap="flat" cmpd="sng" algn="ctr">
                      <a:solidFill>
                        <a:srgbClr val="9A9696"/>
                      </a:solidFill>
                      <a:prstDash val="solid"/>
                      <a:round/>
                      <a:headEnd type="none" w="med" len="med"/>
                      <a:tailEnd type="none" w="med" len="med"/>
                    </a:lnL>
                    <a:lnR w="6350" cap="flat" cmpd="sng" algn="ctr">
                      <a:solidFill>
                        <a:srgbClr val="9A9696"/>
                      </a:solidFill>
                      <a:prstDash val="solid"/>
                      <a:round/>
                      <a:headEnd type="none" w="med" len="med"/>
                      <a:tailEnd type="none" w="med" len="med"/>
                    </a:lnR>
                    <a:lnT w="6350" cap="flat" cmpd="sng" algn="ctr">
                      <a:solidFill>
                        <a:srgbClr val="9A9696"/>
                      </a:solidFill>
                      <a:prstDash val="solid"/>
                      <a:round/>
                      <a:headEnd type="none" w="med" len="med"/>
                      <a:tailEnd type="none" w="med" len="med"/>
                    </a:lnT>
                    <a:lnB w="6350" cap="flat" cmpd="sng" algn="ctr">
                      <a:solidFill>
                        <a:srgbClr val="9A9696"/>
                      </a:solidFill>
                      <a:prstDash val="solid"/>
                      <a:round/>
                      <a:headEnd type="none" w="med" len="med"/>
                      <a:tailEnd type="none" w="med" len="med"/>
                    </a:lnB>
                    <a:solidFill>
                      <a:srgbClr val="D5E8F3"/>
                    </a:solidFill>
                  </a:tcPr>
                </a:tc>
                <a:extLst>
                  <a:ext uri="{0D108BD9-81ED-4DB2-BD59-A6C34878D82A}">
                    <a16:rowId xmlns:a16="http://schemas.microsoft.com/office/drawing/2014/main" val="334092790"/>
                  </a:ext>
                </a:extLst>
              </a:tr>
            </a:tbl>
          </a:graphicData>
        </a:graphic>
      </p:graphicFrame>
      <p:sp>
        <p:nvSpPr>
          <p:cNvPr id="9" name="Rectangle 3">
            <a:extLst>
              <a:ext uri="{FF2B5EF4-FFF2-40B4-BE49-F238E27FC236}">
                <a16:creationId xmlns:a16="http://schemas.microsoft.com/office/drawing/2014/main" id="{794CBAA4-5BC9-533E-0D45-30F084FB3797}"/>
              </a:ext>
            </a:extLst>
          </p:cNvPr>
          <p:cNvSpPr>
            <a:spLocks noChangeArrowheads="1"/>
          </p:cNvSpPr>
          <p:nvPr/>
        </p:nvSpPr>
        <p:spPr bwMode="auto">
          <a:xfrm>
            <a:off x="-141269" y="3241674"/>
            <a:ext cx="22620269" cy="533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7149120" y="212089"/>
            <a:ext cx="4046437" cy="816611"/>
          </a:xfrm>
          <a:prstGeom prst="rect">
            <a:avLst/>
          </a:prstGeom>
        </p:spPr>
        <p:txBody>
          <a:bodyPr lIns="0" tIns="0" rIns="0" bIns="0" rtlCol="0" anchor="t">
            <a:spAutoFit/>
          </a:bodyPr>
          <a:lstStyle/>
          <a:p>
            <a:pPr algn="ctr">
              <a:lnSpc>
                <a:spcPts val="6439"/>
              </a:lnSpc>
              <a:spcBef>
                <a:spcPct val="0"/>
              </a:spcBef>
            </a:pPr>
            <a:r>
              <a:rPr lang="en-US" sz="4599" b="1">
                <a:solidFill>
                  <a:srgbClr val="000000"/>
                </a:solidFill>
                <a:latin typeface="Times New Roman Bold"/>
                <a:ea typeface="Times New Roman Bold"/>
                <a:cs typeface="Times New Roman Bold"/>
                <a:sym typeface="Times New Roman Bold"/>
              </a:rPr>
              <a:t>Discussion</a:t>
            </a:r>
          </a:p>
        </p:txBody>
      </p:sp>
      <p:sp>
        <p:nvSpPr>
          <p:cNvPr id="3" name="TextBox 3"/>
          <p:cNvSpPr txBox="1"/>
          <p:nvPr/>
        </p:nvSpPr>
        <p:spPr>
          <a:xfrm>
            <a:off x="401416" y="1121825"/>
            <a:ext cx="17485168" cy="9253220"/>
          </a:xfrm>
          <a:prstGeom prst="rect">
            <a:avLst/>
          </a:prstGeom>
        </p:spPr>
        <p:txBody>
          <a:bodyPr lIns="0" tIns="0" rIns="0" bIns="0" rtlCol="0" anchor="t">
            <a:spAutoFit/>
          </a:bodyPr>
          <a:lstStyle/>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The project successfully combines frontend, backend, and database technologies</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React.js helped in creating reusable and responsive UI components</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Node.js and Express.js improved backend API development</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MongoDB provided flexible and efficient data management</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JWT authentication improved system security and user protection</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Video learning modules enhanced interactive learning experience</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Quiz functionality helped in student knowledge assessment</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Responsive design improved accessibility across all devices</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REST APIs ensured smooth communication between frontend and backend</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Deployment using </a:t>
            </a:r>
            <a:r>
              <a:rPr lang="en-US" sz="2799" spc="2" dirty="0" err="1">
                <a:solidFill>
                  <a:srgbClr val="000000"/>
                </a:solidFill>
                <a:latin typeface="Times New Roman"/>
                <a:ea typeface="Times New Roman"/>
                <a:cs typeface="Times New Roman"/>
                <a:sym typeface="Times New Roman"/>
              </a:rPr>
              <a:t>Vercel</a:t>
            </a:r>
            <a:r>
              <a:rPr lang="en-US" sz="2799" spc="2" dirty="0">
                <a:solidFill>
                  <a:srgbClr val="000000"/>
                </a:solidFill>
                <a:latin typeface="Times New Roman"/>
                <a:ea typeface="Times New Roman"/>
                <a:cs typeface="Times New Roman"/>
                <a:sym typeface="Times New Roman"/>
              </a:rPr>
              <a:t> and Render improved online accessibility</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The project enhanced practical understanding of MERN-stack development</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The application provides a scalable foundation for future enhancements</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UI/UX design improved navigation and user interaction</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Database integration helped manage users, courses, and quiz data efficiently</a:t>
            </a:r>
          </a:p>
          <a:p>
            <a:pPr marL="604519" lvl="1" indent="-302260" algn="l">
              <a:lnSpc>
                <a:spcPts val="4899"/>
              </a:lnSpc>
              <a:buFont typeface="Arial"/>
              <a:buChar char="•"/>
            </a:pPr>
            <a:r>
              <a:rPr lang="en-US" sz="2799" spc="2" dirty="0">
                <a:solidFill>
                  <a:srgbClr val="000000"/>
                </a:solidFill>
                <a:latin typeface="Times New Roman"/>
                <a:ea typeface="Times New Roman"/>
                <a:cs typeface="Times New Roman"/>
                <a:sym typeface="Times New Roman"/>
              </a:rPr>
              <a:t>The system demonstrates real-world implementation of full-stack web development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332443" y="208707"/>
            <a:ext cx="6273523" cy="819993"/>
          </a:xfrm>
          <a:prstGeom prst="rect">
            <a:avLst/>
          </a:prstGeom>
        </p:spPr>
        <p:txBody>
          <a:bodyPr lIns="0" tIns="0" rIns="0" bIns="0" rtlCol="0" anchor="t">
            <a:spAutoFit/>
          </a:bodyPr>
          <a:lstStyle/>
          <a:p>
            <a:pPr algn="ctr">
              <a:lnSpc>
                <a:spcPts val="6559"/>
              </a:lnSpc>
              <a:spcBef>
                <a:spcPct val="0"/>
              </a:spcBef>
            </a:pPr>
            <a:r>
              <a:rPr lang="en-US" sz="4685" b="1">
                <a:solidFill>
                  <a:srgbClr val="000000"/>
                </a:solidFill>
                <a:latin typeface="Times New Roman Bold"/>
                <a:ea typeface="Times New Roman Bold"/>
                <a:cs typeface="Times New Roman Bold"/>
                <a:sym typeface="Times New Roman Bold"/>
              </a:rPr>
              <a:t>Feasibility Study</a:t>
            </a:r>
          </a:p>
        </p:txBody>
      </p:sp>
      <p:sp>
        <p:nvSpPr>
          <p:cNvPr id="3" name="TextBox 3"/>
          <p:cNvSpPr txBox="1"/>
          <p:nvPr/>
        </p:nvSpPr>
        <p:spPr>
          <a:xfrm>
            <a:off x="678379" y="988002"/>
            <a:ext cx="16580921" cy="8487537"/>
          </a:xfrm>
          <a:prstGeom prst="rect">
            <a:avLst/>
          </a:prstGeom>
        </p:spPr>
        <p:txBody>
          <a:bodyPr lIns="0" tIns="0" rIns="0" bIns="0" rtlCol="0" anchor="t">
            <a:spAutoFit/>
          </a:bodyPr>
          <a:lstStyle/>
          <a:p>
            <a:pPr marL="604519" lvl="1" indent="-302260" algn="l">
              <a:lnSpc>
                <a:spcPts val="6803"/>
              </a:lnSpc>
              <a:buFont typeface="Arial"/>
              <a:buChar char="•"/>
            </a:pPr>
            <a:r>
              <a:rPr lang="en-US" sz="2799">
                <a:solidFill>
                  <a:srgbClr val="000000"/>
                </a:solidFill>
                <a:latin typeface="Times New Roman"/>
                <a:ea typeface="Times New Roman"/>
                <a:cs typeface="Times New Roman"/>
                <a:sym typeface="Times New Roman"/>
              </a:rPr>
              <a:t>The project is technically feasible using MERN stack technologies</a:t>
            </a:r>
          </a:p>
          <a:p>
            <a:pPr marL="604519" lvl="1" indent="-302260" algn="l">
              <a:lnSpc>
                <a:spcPts val="6803"/>
              </a:lnSpc>
              <a:buFont typeface="Arial"/>
              <a:buChar char="•"/>
            </a:pPr>
            <a:r>
              <a:rPr lang="en-US" sz="2799">
                <a:solidFill>
                  <a:srgbClr val="000000"/>
                </a:solidFill>
                <a:latin typeface="Times New Roman"/>
                <a:ea typeface="Times New Roman"/>
                <a:cs typeface="Times New Roman"/>
                <a:sym typeface="Times New Roman"/>
              </a:rPr>
              <a:t>React.js provides efficient frontend development support</a:t>
            </a:r>
          </a:p>
          <a:p>
            <a:pPr marL="604519" lvl="1" indent="-302260" algn="l">
              <a:lnSpc>
                <a:spcPts val="6803"/>
              </a:lnSpc>
              <a:buFont typeface="Arial"/>
              <a:buChar char="•"/>
            </a:pPr>
            <a:r>
              <a:rPr lang="en-US" sz="2799">
                <a:solidFill>
                  <a:srgbClr val="000000"/>
                </a:solidFill>
                <a:latin typeface="Times New Roman"/>
                <a:ea typeface="Times New Roman"/>
                <a:cs typeface="Times New Roman"/>
                <a:sym typeface="Times New Roman"/>
              </a:rPr>
              <a:t>Node.js and Express.js enable smooth backend API creation</a:t>
            </a:r>
          </a:p>
          <a:p>
            <a:pPr marL="604519" lvl="1" indent="-302260" algn="l">
              <a:lnSpc>
                <a:spcPts val="6803"/>
              </a:lnSpc>
              <a:buFont typeface="Arial"/>
              <a:buChar char="•"/>
            </a:pPr>
            <a:r>
              <a:rPr lang="en-US" sz="2799">
                <a:solidFill>
                  <a:srgbClr val="000000"/>
                </a:solidFill>
                <a:latin typeface="Times New Roman"/>
                <a:ea typeface="Times New Roman"/>
                <a:cs typeface="Times New Roman"/>
                <a:sym typeface="Times New Roman"/>
              </a:rPr>
              <a:t>MongoDB supports flexible and scalable database management</a:t>
            </a:r>
          </a:p>
          <a:p>
            <a:pPr marL="604519" lvl="1" indent="-302260" algn="l">
              <a:lnSpc>
                <a:spcPts val="6803"/>
              </a:lnSpc>
              <a:buFont typeface="Arial"/>
              <a:buChar char="•"/>
            </a:pPr>
            <a:r>
              <a:rPr lang="en-US" sz="2799">
                <a:solidFill>
                  <a:srgbClr val="000000"/>
                </a:solidFill>
                <a:latin typeface="Times New Roman"/>
                <a:ea typeface="Times New Roman"/>
                <a:cs typeface="Times New Roman"/>
                <a:sym typeface="Times New Roman"/>
              </a:rPr>
              <a:t>Open-source technologies reduce overall development cost</a:t>
            </a:r>
          </a:p>
          <a:p>
            <a:pPr marL="604519" lvl="1" indent="-302260" algn="l">
              <a:lnSpc>
                <a:spcPts val="6803"/>
              </a:lnSpc>
              <a:buFont typeface="Arial"/>
              <a:buChar char="•"/>
            </a:pPr>
            <a:r>
              <a:rPr lang="en-US" sz="2799">
                <a:solidFill>
                  <a:srgbClr val="000000"/>
                </a:solidFill>
                <a:latin typeface="Times New Roman"/>
                <a:ea typeface="Times New Roman"/>
                <a:cs typeface="Times New Roman"/>
                <a:sym typeface="Times New Roman"/>
              </a:rPr>
              <a:t>Free hosting platforms like Vercel and Render improve economic feasibility</a:t>
            </a:r>
          </a:p>
          <a:p>
            <a:pPr marL="604519" lvl="1" indent="-302260" algn="l">
              <a:lnSpc>
                <a:spcPts val="6803"/>
              </a:lnSpc>
              <a:buFont typeface="Arial"/>
              <a:buChar char="•"/>
            </a:pPr>
            <a:r>
              <a:rPr lang="en-US" sz="2799">
                <a:solidFill>
                  <a:srgbClr val="000000"/>
                </a:solidFill>
                <a:latin typeface="Times New Roman"/>
                <a:ea typeface="Times New Roman"/>
                <a:cs typeface="Times New Roman"/>
                <a:sym typeface="Times New Roman"/>
              </a:rPr>
              <a:t>The system is easy to operate and user-friendly</a:t>
            </a:r>
          </a:p>
          <a:p>
            <a:pPr marL="604519" lvl="1" indent="-302260" algn="l">
              <a:lnSpc>
                <a:spcPts val="6803"/>
              </a:lnSpc>
              <a:buFont typeface="Arial"/>
              <a:buChar char="•"/>
            </a:pPr>
            <a:r>
              <a:rPr lang="en-US" sz="2799">
                <a:solidFill>
                  <a:srgbClr val="000000"/>
                </a:solidFill>
                <a:latin typeface="Times New Roman"/>
                <a:ea typeface="Times New Roman"/>
                <a:cs typeface="Times New Roman"/>
                <a:sym typeface="Times New Roman"/>
              </a:rPr>
              <a:t>Responsive design ensures accessibility across multiple devices</a:t>
            </a:r>
          </a:p>
          <a:p>
            <a:pPr marL="604519" lvl="1" indent="-302260" algn="l">
              <a:lnSpc>
                <a:spcPts val="6803"/>
              </a:lnSpc>
              <a:buFont typeface="Arial"/>
              <a:buChar char="•"/>
            </a:pPr>
            <a:r>
              <a:rPr lang="en-US" sz="2799">
                <a:solidFill>
                  <a:srgbClr val="000000"/>
                </a:solidFill>
                <a:latin typeface="Times New Roman"/>
                <a:ea typeface="Times New Roman"/>
                <a:cs typeface="Times New Roman"/>
                <a:sym typeface="Times New Roman"/>
              </a:rPr>
              <a:t>The project can be completed within the planned development timeline</a:t>
            </a:r>
          </a:p>
          <a:p>
            <a:pPr marL="604519" lvl="1" indent="-302260" algn="l">
              <a:lnSpc>
                <a:spcPts val="6803"/>
              </a:lnSpc>
              <a:buFont typeface="Arial"/>
              <a:buChar char="•"/>
            </a:pPr>
            <a:r>
              <a:rPr lang="en-US" sz="2799">
                <a:solidFill>
                  <a:srgbClr val="000000"/>
                </a:solidFill>
                <a:latin typeface="Times New Roman"/>
                <a:ea typeface="Times New Roman"/>
                <a:cs typeface="Times New Roman"/>
                <a:sym typeface="Times New Roman"/>
              </a:rPr>
              <a:t>The application supports future scalability and feature enhancements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028700" y="1943881"/>
            <a:ext cx="4870720" cy="7945375"/>
          </a:xfrm>
          <a:custGeom>
            <a:avLst/>
            <a:gdLst/>
            <a:ahLst/>
            <a:cxnLst/>
            <a:rect l="l" t="t" r="r" b="b"/>
            <a:pathLst>
              <a:path w="4870720" h="7945375">
                <a:moveTo>
                  <a:pt x="0" y="0"/>
                </a:moveTo>
                <a:lnTo>
                  <a:pt x="4870720" y="0"/>
                </a:lnTo>
                <a:lnTo>
                  <a:pt x="4870720" y="7945375"/>
                </a:lnTo>
                <a:lnTo>
                  <a:pt x="0" y="7945375"/>
                </a:lnTo>
                <a:lnTo>
                  <a:pt x="0" y="0"/>
                </a:lnTo>
                <a:close/>
              </a:path>
            </a:pathLst>
          </a:custGeom>
          <a:blipFill>
            <a:blip r:embed="rId2"/>
            <a:stretch>
              <a:fillRect l="-4375" r="-4375"/>
            </a:stretch>
          </a:blipFill>
        </p:spPr>
        <p:txBody>
          <a:bodyPr/>
          <a:lstStyle/>
          <a:p>
            <a:endParaRPr lang="en-IN"/>
          </a:p>
        </p:txBody>
      </p:sp>
      <p:sp>
        <p:nvSpPr>
          <p:cNvPr id="3" name="TextBox 3"/>
          <p:cNvSpPr txBox="1"/>
          <p:nvPr/>
        </p:nvSpPr>
        <p:spPr>
          <a:xfrm>
            <a:off x="5372381" y="212089"/>
            <a:ext cx="5644535" cy="816611"/>
          </a:xfrm>
          <a:prstGeom prst="rect">
            <a:avLst/>
          </a:prstGeom>
        </p:spPr>
        <p:txBody>
          <a:bodyPr lIns="0" tIns="0" rIns="0" bIns="0" rtlCol="0" anchor="t">
            <a:spAutoFit/>
          </a:bodyPr>
          <a:lstStyle/>
          <a:p>
            <a:pPr algn="ctr">
              <a:lnSpc>
                <a:spcPts val="6439"/>
              </a:lnSpc>
              <a:spcBef>
                <a:spcPct val="0"/>
              </a:spcBef>
            </a:pPr>
            <a:r>
              <a:rPr lang="en-US" sz="4599" b="1">
                <a:solidFill>
                  <a:srgbClr val="000000"/>
                </a:solidFill>
                <a:latin typeface="Times New Roman Bold"/>
                <a:ea typeface="Times New Roman Bold"/>
                <a:cs typeface="Times New Roman Bold"/>
                <a:sym typeface="Times New Roman Bold"/>
              </a:rPr>
              <a:t>Workflow</a:t>
            </a:r>
          </a:p>
        </p:txBody>
      </p:sp>
      <p:sp>
        <p:nvSpPr>
          <p:cNvPr id="4" name="TextBox 4"/>
          <p:cNvSpPr txBox="1"/>
          <p:nvPr/>
        </p:nvSpPr>
        <p:spPr>
          <a:xfrm>
            <a:off x="6164920" y="1620031"/>
            <a:ext cx="12123080" cy="8201660"/>
          </a:xfrm>
          <a:prstGeom prst="rect">
            <a:avLst/>
          </a:prstGeom>
        </p:spPr>
        <p:txBody>
          <a:bodyPr lIns="0" tIns="0" rIns="0" bIns="0" rtlCol="0" anchor="t">
            <a:spAutoFit/>
          </a:bodyPr>
          <a:lstStyle/>
          <a:p>
            <a:pPr marL="604519" lvl="1" indent="-302260" algn="l">
              <a:lnSpc>
                <a:spcPts val="6579"/>
              </a:lnSpc>
              <a:buFont typeface="Arial"/>
              <a:buChar char="•"/>
            </a:pPr>
            <a:r>
              <a:rPr lang="en-US" sz="2799">
                <a:solidFill>
                  <a:srgbClr val="000000"/>
                </a:solidFill>
                <a:latin typeface="Times New Roman"/>
                <a:ea typeface="Times New Roman"/>
                <a:cs typeface="Times New Roman"/>
                <a:sym typeface="Times New Roman"/>
              </a:rPr>
              <a:t>User opens the Mindova Learning Application</a:t>
            </a:r>
          </a:p>
          <a:p>
            <a:pPr marL="604519" lvl="1" indent="-302260" algn="l">
              <a:lnSpc>
                <a:spcPts val="6579"/>
              </a:lnSpc>
              <a:buFont typeface="Arial"/>
              <a:buChar char="•"/>
            </a:pPr>
            <a:r>
              <a:rPr lang="en-US" sz="2799">
                <a:solidFill>
                  <a:srgbClr val="000000"/>
                </a:solidFill>
                <a:latin typeface="Times New Roman"/>
                <a:ea typeface="Times New Roman"/>
                <a:cs typeface="Times New Roman"/>
                <a:sym typeface="Times New Roman"/>
              </a:rPr>
              <a:t>User registers or logs into the system</a:t>
            </a:r>
          </a:p>
          <a:p>
            <a:pPr marL="604519" lvl="1" indent="-302260" algn="l">
              <a:lnSpc>
                <a:spcPts val="6579"/>
              </a:lnSpc>
              <a:buFont typeface="Arial"/>
              <a:buChar char="•"/>
            </a:pPr>
            <a:r>
              <a:rPr lang="en-US" sz="2799">
                <a:solidFill>
                  <a:srgbClr val="000000"/>
                </a:solidFill>
                <a:latin typeface="Times New Roman"/>
                <a:ea typeface="Times New Roman"/>
                <a:cs typeface="Times New Roman"/>
                <a:sym typeface="Times New Roman"/>
              </a:rPr>
              <a:t>Authentication is verified using JWT</a:t>
            </a:r>
          </a:p>
          <a:p>
            <a:pPr marL="604519" lvl="1" indent="-302260" algn="l">
              <a:lnSpc>
                <a:spcPts val="6579"/>
              </a:lnSpc>
              <a:buFont typeface="Arial"/>
              <a:buChar char="•"/>
            </a:pPr>
            <a:r>
              <a:rPr lang="en-US" sz="2799">
                <a:solidFill>
                  <a:srgbClr val="000000"/>
                </a:solidFill>
                <a:latin typeface="Times New Roman"/>
                <a:ea typeface="Times New Roman"/>
                <a:cs typeface="Times New Roman"/>
                <a:sym typeface="Times New Roman"/>
              </a:rPr>
              <a:t>Dashboard is displayed after successful login</a:t>
            </a:r>
          </a:p>
          <a:p>
            <a:pPr marL="604519" lvl="1" indent="-302260" algn="l">
              <a:lnSpc>
                <a:spcPts val="6579"/>
              </a:lnSpc>
              <a:buFont typeface="Arial"/>
              <a:buChar char="•"/>
            </a:pPr>
            <a:r>
              <a:rPr lang="en-US" sz="2799">
                <a:solidFill>
                  <a:srgbClr val="000000"/>
                </a:solidFill>
                <a:latin typeface="Times New Roman"/>
                <a:ea typeface="Times New Roman"/>
                <a:cs typeface="Times New Roman"/>
                <a:sym typeface="Times New Roman"/>
              </a:rPr>
              <a:t>User accesses courses, videos, and quizzes</a:t>
            </a:r>
          </a:p>
          <a:p>
            <a:pPr marL="604519" lvl="1" indent="-302260" algn="l">
              <a:lnSpc>
                <a:spcPts val="6579"/>
              </a:lnSpc>
              <a:buFont typeface="Arial"/>
              <a:buChar char="•"/>
            </a:pPr>
            <a:r>
              <a:rPr lang="en-US" sz="2799">
                <a:solidFill>
                  <a:srgbClr val="000000"/>
                </a:solidFill>
                <a:latin typeface="Times New Roman"/>
                <a:ea typeface="Times New Roman"/>
                <a:cs typeface="Times New Roman"/>
                <a:sym typeface="Times New Roman"/>
              </a:rPr>
              <a:t>Frontend sends API requests to backend server</a:t>
            </a:r>
          </a:p>
          <a:p>
            <a:pPr marL="604519" lvl="1" indent="-302260" algn="l">
              <a:lnSpc>
                <a:spcPts val="6579"/>
              </a:lnSpc>
              <a:buFont typeface="Arial"/>
              <a:buChar char="•"/>
            </a:pPr>
            <a:r>
              <a:rPr lang="en-US" sz="2799">
                <a:solidFill>
                  <a:srgbClr val="000000"/>
                </a:solidFill>
                <a:latin typeface="Times New Roman"/>
                <a:ea typeface="Times New Roman"/>
                <a:cs typeface="Times New Roman"/>
                <a:sym typeface="Times New Roman"/>
              </a:rPr>
              <a:t>Backend processes requests using Node.js and Express.js</a:t>
            </a:r>
          </a:p>
          <a:p>
            <a:pPr marL="604519" lvl="1" indent="-302260" algn="l">
              <a:lnSpc>
                <a:spcPts val="6579"/>
              </a:lnSpc>
              <a:buFont typeface="Arial"/>
              <a:buChar char="•"/>
            </a:pPr>
            <a:r>
              <a:rPr lang="en-US" sz="2799">
                <a:solidFill>
                  <a:srgbClr val="000000"/>
                </a:solidFill>
                <a:latin typeface="Times New Roman"/>
                <a:ea typeface="Times New Roman"/>
                <a:cs typeface="Times New Roman"/>
                <a:sym typeface="Times New Roman"/>
              </a:rPr>
              <a:t>MongoDB stores and retrieves user and course data</a:t>
            </a:r>
          </a:p>
          <a:p>
            <a:pPr marL="604519" lvl="1" indent="-302260" algn="l">
              <a:lnSpc>
                <a:spcPts val="6579"/>
              </a:lnSpc>
              <a:buFont typeface="Arial"/>
              <a:buChar char="•"/>
            </a:pPr>
            <a:r>
              <a:rPr lang="en-US" sz="2799">
                <a:solidFill>
                  <a:srgbClr val="000000"/>
                </a:solidFill>
                <a:latin typeface="Times New Roman"/>
                <a:ea typeface="Times New Roman"/>
                <a:cs typeface="Times New Roman"/>
                <a:sym typeface="Times New Roman"/>
              </a:rPr>
              <a:t>Quiz results and learning progress are updated</a:t>
            </a:r>
          </a:p>
          <a:p>
            <a:pPr marL="604519" lvl="1" indent="-302260" algn="l">
              <a:lnSpc>
                <a:spcPts val="6579"/>
              </a:lnSpc>
              <a:buFont typeface="Arial"/>
              <a:buChar char="•"/>
            </a:pPr>
            <a:r>
              <a:rPr lang="en-US" sz="2799">
                <a:solidFill>
                  <a:srgbClr val="000000"/>
                </a:solidFill>
                <a:latin typeface="Times New Roman"/>
                <a:ea typeface="Times New Roman"/>
                <a:cs typeface="Times New Roman"/>
                <a:sym typeface="Times New Roman"/>
              </a:rPr>
              <a:t>User receives smooth and responsive learning experience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3370373" y="212089"/>
            <a:ext cx="10527056" cy="816611"/>
          </a:xfrm>
          <a:prstGeom prst="rect">
            <a:avLst/>
          </a:prstGeom>
        </p:spPr>
        <p:txBody>
          <a:bodyPr lIns="0" tIns="0" rIns="0" bIns="0" rtlCol="0" anchor="t">
            <a:spAutoFit/>
          </a:bodyPr>
          <a:lstStyle/>
          <a:p>
            <a:pPr algn="ctr">
              <a:lnSpc>
                <a:spcPts val="6439"/>
              </a:lnSpc>
              <a:spcBef>
                <a:spcPct val="0"/>
              </a:spcBef>
            </a:pPr>
            <a:r>
              <a:rPr lang="en-US" sz="4599" b="1">
                <a:solidFill>
                  <a:srgbClr val="000000"/>
                </a:solidFill>
                <a:latin typeface="Times New Roman Bold"/>
                <a:ea typeface="Times New Roman Bold"/>
                <a:cs typeface="Times New Roman Bold"/>
                <a:sym typeface="Times New Roman Bold"/>
              </a:rPr>
              <a:t>Methods and Techniques Used</a:t>
            </a:r>
          </a:p>
        </p:txBody>
      </p:sp>
      <p:sp>
        <p:nvSpPr>
          <p:cNvPr id="3" name="TextBox 3"/>
          <p:cNvSpPr txBox="1"/>
          <p:nvPr/>
        </p:nvSpPr>
        <p:spPr>
          <a:xfrm>
            <a:off x="396744" y="1573593"/>
            <a:ext cx="17891256" cy="7872095"/>
          </a:xfrm>
          <a:prstGeom prst="rect">
            <a:avLst/>
          </a:prstGeom>
        </p:spPr>
        <p:txBody>
          <a:bodyPr lIns="0" tIns="0" rIns="0" bIns="0" rtlCol="0" anchor="t">
            <a:spAutoFit/>
          </a:bodyPr>
          <a:lstStyle/>
          <a:p>
            <a:pPr algn="l">
              <a:lnSpc>
                <a:spcPts val="6999"/>
              </a:lnSpc>
            </a:pPr>
            <a:r>
              <a:rPr lang="en-US" sz="2799">
                <a:solidFill>
                  <a:srgbClr val="000000"/>
                </a:solidFill>
                <a:latin typeface="Times New Roman"/>
                <a:ea typeface="Times New Roman"/>
                <a:cs typeface="Times New Roman"/>
                <a:sym typeface="Times New Roman"/>
              </a:rPr>
              <a:t>The workflow of the Mindova Learning Application starts when the user opens the application and performs registration or login using secure authentication. After successful JWT verification, the system grants access to the dashboard where users can explore courses, watch educational videos, attempt quizzes, and track their learning progress.</a:t>
            </a:r>
          </a:p>
          <a:p>
            <a:pPr algn="l">
              <a:lnSpc>
                <a:spcPts val="6999"/>
              </a:lnSpc>
            </a:pPr>
            <a:r>
              <a:rPr lang="en-US" sz="2799">
                <a:solidFill>
                  <a:srgbClr val="000000"/>
                </a:solidFill>
                <a:latin typeface="Times New Roman"/>
                <a:ea typeface="Times New Roman"/>
                <a:cs typeface="Times New Roman"/>
                <a:sym typeface="Times New Roman"/>
              </a:rPr>
              <a:t>The frontend interface developed using React.js and Tailwind CSS sends API requests to the backend server created with Node.js and Express.js. The backend processes user requests, handles authentication, manages course data, and communicates with the MongoDB database.</a:t>
            </a:r>
          </a:p>
          <a:p>
            <a:pPr algn="l">
              <a:lnSpc>
                <a:spcPts val="6999"/>
              </a:lnSpc>
            </a:pPr>
            <a:r>
              <a:rPr lang="en-US" sz="2799">
                <a:solidFill>
                  <a:srgbClr val="000000"/>
                </a:solidFill>
                <a:latin typeface="Times New Roman"/>
                <a:ea typeface="Times New Roman"/>
                <a:cs typeface="Times New Roman"/>
                <a:sym typeface="Times New Roman"/>
              </a:rPr>
              <a:t>MongoDB stores important information such as user details, course content, video modules, quiz scores, and progress records. The system ensures smooth communication between frontend and backend through REST APIs, providing fast performance, secure access, and responsive user experience across all devices.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903757" y="213599"/>
            <a:ext cx="6855503" cy="815101"/>
          </a:xfrm>
          <a:prstGeom prst="rect">
            <a:avLst/>
          </a:prstGeom>
        </p:spPr>
        <p:txBody>
          <a:bodyPr lIns="0" tIns="0" rIns="0" bIns="0" rtlCol="0" anchor="t">
            <a:spAutoFit/>
          </a:bodyPr>
          <a:lstStyle/>
          <a:p>
            <a:pPr algn="ctr">
              <a:lnSpc>
                <a:spcPts val="6514"/>
              </a:lnSpc>
              <a:spcBef>
                <a:spcPct val="0"/>
              </a:spcBef>
            </a:pPr>
            <a:r>
              <a:rPr lang="en-US" sz="4653" b="1">
                <a:solidFill>
                  <a:srgbClr val="000000"/>
                </a:solidFill>
                <a:latin typeface="Times New Roman Bold"/>
                <a:ea typeface="Times New Roman Bold"/>
                <a:cs typeface="Times New Roman Bold"/>
                <a:sym typeface="Times New Roman Bold"/>
              </a:rPr>
              <a:t>Progress in Project</a:t>
            </a:r>
          </a:p>
        </p:txBody>
      </p:sp>
      <p:sp>
        <p:nvSpPr>
          <p:cNvPr id="3" name="TextBox 3"/>
          <p:cNvSpPr txBox="1"/>
          <p:nvPr/>
        </p:nvSpPr>
        <p:spPr>
          <a:xfrm>
            <a:off x="587259" y="1129696"/>
            <a:ext cx="15269723" cy="8575675"/>
          </a:xfrm>
          <a:prstGeom prst="rect">
            <a:avLst/>
          </a:prstGeom>
        </p:spPr>
        <p:txBody>
          <a:bodyPr lIns="0" tIns="0" rIns="0" bIns="0" rtlCol="0" anchor="t">
            <a:spAutoFit/>
          </a:bodyPr>
          <a:lstStyle/>
          <a:p>
            <a:pPr marL="604519" lvl="1" indent="-302260" algn="l">
              <a:lnSpc>
                <a:spcPts val="6859"/>
              </a:lnSpc>
              <a:buFont typeface="Arial"/>
              <a:buChar char="•"/>
            </a:pPr>
            <a:r>
              <a:rPr lang="en-US" sz="2799">
                <a:solidFill>
                  <a:srgbClr val="000000"/>
                </a:solidFill>
                <a:latin typeface="Times New Roman"/>
                <a:ea typeface="Times New Roman"/>
                <a:cs typeface="Times New Roman"/>
                <a:sym typeface="Times New Roman"/>
              </a:rPr>
              <a:t>Requirement analysis and project planning completed</a:t>
            </a:r>
          </a:p>
          <a:p>
            <a:pPr marL="604519" lvl="1" indent="-302260" algn="l">
              <a:lnSpc>
                <a:spcPts val="6859"/>
              </a:lnSpc>
              <a:buFont typeface="Arial"/>
              <a:buChar char="•"/>
            </a:pPr>
            <a:r>
              <a:rPr lang="en-US" sz="2799">
                <a:solidFill>
                  <a:srgbClr val="000000"/>
                </a:solidFill>
                <a:latin typeface="Times New Roman"/>
                <a:ea typeface="Times New Roman"/>
                <a:cs typeface="Times New Roman"/>
                <a:sym typeface="Times New Roman"/>
              </a:rPr>
              <a:t>Designed the UI layout and overall workflow of the application</a:t>
            </a:r>
          </a:p>
          <a:p>
            <a:pPr marL="604519" lvl="1" indent="-302260" algn="l">
              <a:lnSpc>
                <a:spcPts val="6859"/>
              </a:lnSpc>
              <a:buFont typeface="Arial"/>
              <a:buChar char="•"/>
            </a:pPr>
            <a:r>
              <a:rPr lang="en-US" sz="2799">
                <a:solidFill>
                  <a:srgbClr val="000000"/>
                </a:solidFill>
                <a:latin typeface="Times New Roman"/>
                <a:ea typeface="Times New Roman"/>
                <a:cs typeface="Times New Roman"/>
                <a:sym typeface="Times New Roman"/>
              </a:rPr>
              <a:t>Created responsive frontend using React.js and Tailwind CSS</a:t>
            </a:r>
          </a:p>
          <a:p>
            <a:pPr marL="604519" lvl="1" indent="-302260" algn="l">
              <a:lnSpc>
                <a:spcPts val="6859"/>
              </a:lnSpc>
              <a:buFont typeface="Arial"/>
              <a:buChar char="•"/>
            </a:pPr>
            <a:r>
              <a:rPr lang="en-US" sz="2799">
                <a:solidFill>
                  <a:srgbClr val="000000"/>
                </a:solidFill>
                <a:latin typeface="Times New Roman"/>
                <a:ea typeface="Times New Roman"/>
                <a:cs typeface="Times New Roman"/>
                <a:sym typeface="Times New Roman"/>
              </a:rPr>
              <a:t>Developed login and registration modules</a:t>
            </a:r>
          </a:p>
          <a:p>
            <a:pPr marL="604519" lvl="1" indent="-302260" algn="l">
              <a:lnSpc>
                <a:spcPts val="6859"/>
              </a:lnSpc>
              <a:buFont typeface="Arial"/>
              <a:buChar char="•"/>
            </a:pPr>
            <a:r>
              <a:rPr lang="en-US" sz="2799">
                <a:solidFill>
                  <a:srgbClr val="000000"/>
                </a:solidFill>
                <a:latin typeface="Times New Roman"/>
                <a:ea typeface="Times New Roman"/>
                <a:cs typeface="Times New Roman"/>
                <a:sym typeface="Times New Roman"/>
              </a:rPr>
              <a:t>Implemented JWT authentication for secure access</a:t>
            </a:r>
          </a:p>
          <a:p>
            <a:pPr marL="604519" lvl="1" indent="-302260" algn="l">
              <a:lnSpc>
                <a:spcPts val="6859"/>
              </a:lnSpc>
              <a:buFont typeface="Arial"/>
              <a:buChar char="•"/>
            </a:pPr>
            <a:r>
              <a:rPr lang="en-US" sz="2799">
                <a:solidFill>
                  <a:srgbClr val="000000"/>
                </a:solidFill>
                <a:latin typeface="Times New Roman"/>
                <a:ea typeface="Times New Roman"/>
                <a:cs typeface="Times New Roman"/>
                <a:sym typeface="Times New Roman"/>
              </a:rPr>
              <a:t>Created dashboard for courses, videos, and quizzes</a:t>
            </a:r>
          </a:p>
          <a:p>
            <a:pPr marL="604519" lvl="1" indent="-302260" algn="l">
              <a:lnSpc>
                <a:spcPts val="6859"/>
              </a:lnSpc>
              <a:buFont typeface="Arial"/>
              <a:buChar char="•"/>
            </a:pPr>
            <a:r>
              <a:rPr lang="en-US" sz="2799">
                <a:solidFill>
                  <a:srgbClr val="000000"/>
                </a:solidFill>
                <a:latin typeface="Times New Roman"/>
                <a:ea typeface="Times New Roman"/>
                <a:cs typeface="Times New Roman"/>
                <a:sym typeface="Times New Roman"/>
              </a:rPr>
              <a:t>Developed backend APIs using Node.js and Express.js</a:t>
            </a:r>
          </a:p>
          <a:p>
            <a:pPr marL="604519" lvl="1" indent="-302260" algn="l">
              <a:lnSpc>
                <a:spcPts val="6859"/>
              </a:lnSpc>
              <a:buFont typeface="Arial"/>
              <a:buChar char="•"/>
            </a:pPr>
            <a:r>
              <a:rPr lang="en-US" sz="2799">
                <a:solidFill>
                  <a:srgbClr val="000000"/>
                </a:solidFill>
                <a:latin typeface="Times New Roman"/>
                <a:ea typeface="Times New Roman"/>
                <a:cs typeface="Times New Roman"/>
                <a:sym typeface="Times New Roman"/>
              </a:rPr>
              <a:t>Integrated MongoDB database for data storage</a:t>
            </a:r>
          </a:p>
          <a:p>
            <a:pPr marL="604519" lvl="1" indent="-302260" algn="l">
              <a:lnSpc>
                <a:spcPts val="6859"/>
              </a:lnSpc>
              <a:buFont typeface="Arial"/>
              <a:buChar char="•"/>
            </a:pPr>
            <a:r>
              <a:rPr lang="en-US" sz="2799">
                <a:solidFill>
                  <a:srgbClr val="000000"/>
                </a:solidFill>
                <a:latin typeface="Times New Roman"/>
                <a:ea typeface="Times New Roman"/>
                <a:cs typeface="Times New Roman"/>
                <a:sym typeface="Times New Roman"/>
              </a:rPr>
              <a:t>Added video learning and quiz functionalities</a:t>
            </a:r>
          </a:p>
          <a:p>
            <a:pPr marL="604519" lvl="1" indent="-302260" algn="l">
              <a:lnSpc>
                <a:spcPts val="6859"/>
              </a:lnSpc>
              <a:buFont typeface="Arial"/>
              <a:buChar char="•"/>
            </a:pPr>
            <a:r>
              <a:rPr lang="en-US" sz="2799">
                <a:solidFill>
                  <a:srgbClr val="000000"/>
                </a:solidFill>
                <a:latin typeface="Times New Roman"/>
                <a:ea typeface="Times New Roman"/>
                <a:cs typeface="Times New Roman"/>
                <a:sym typeface="Times New Roman"/>
              </a:rPr>
              <a:t>Tested responsiveness, APIs, and database operations successfully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2393556" y="1815855"/>
            <a:ext cx="13500888" cy="5748605"/>
          </a:xfrm>
          <a:custGeom>
            <a:avLst/>
            <a:gdLst/>
            <a:ahLst/>
            <a:cxnLst/>
            <a:rect l="l" t="t" r="r" b="b"/>
            <a:pathLst>
              <a:path w="13500888" h="5748605">
                <a:moveTo>
                  <a:pt x="0" y="0"/>
                </a:moveTo>
                <a:lnTo>
                  <a:pt x="13500888" y="0"/>
                </a:lnTo>
                <a:lnTo>
                  <a:pt x="13500888" y="5748605"/>
                </a:lnTo>
                <a:lnTo>
                  <a:pt x="0" y="5748605"/>
                </a:lnTo>
                <a:lnTo>
                  <a:pt x="0" y="0"/>
                </a:lnTo>
                <a:close/>
              </a:path>
            </a:pathLst>
          </a:custGeom>
          <a:blipFill>
            <a:blip r:embed="rId2"/>
            <a:stretch>
              <a:fillRect t="-411" r="-346" b="-411"/>
            </a:stretch>
          </a:blipFill>
        </p:spPr>
        <p:txBody>
          <a:bodyPr/>
          <a:lstStyle/>
          <a:p>
            <a:endParaRPr lang="en-IN"/>
          </a:p>
        </p:txBody>
      </p:sp>
      <p:sp>
        <p:nvSpPr>
          <p:cNvPr id="3" name="TextBox 3"/>
          <p:cNvSpPr txBox="1"/>
          <p:nvPr/>
        </p:nvSpPr>
        <p:spPr>
          <a:xfrm>
            <a:off x="6053165" y="212089"/>
            <a:ext cx="4453001" cy="816611"/>
          </a:xfrm>
          <a:prstGeom prst="rect">
            <a:avLst/>
          </a:prstGeom>
        </p:spPr>
        <p:txBody>
          <a:bodyPr lIns="0" tIns="0" rIns="0" bIns="0" rtlCol="0" anchor="t">
            <a:spAutoFit/>
          </a:bodyPr>
          <a:lstStyle/>
          <a:p>
            <a:pPr algn="ctr">
              <a:lnSpc>
                <a:spcPts val="6439"/>
              </a:lnSpc>
              <a:spcBef>
                <a:spcPct val="0"/>
              </a:spcBef>
            </a:pPr>
            <a:r>
              <a:rPr lang="en-US" sz="4599" b="1">
                <a:solidFill>
                  <a:srgbClr val="000000"/>
                </a:solidFill>
                <a:latin typeface="Times New Roman Bold"/>
                <a:ea typeface="Times New Roman Bold"/>
                <a:cs typeface="Times New Roman Bold"/>
                <a:sym typeface="Times New Roman Bold"/>
              </a:rPr>
              <a:t>Results</a:t>
            </a:r>
          </a:p>
        </p:txBody>
      </p:sp>
      <p:sp>
        <p:nvSpPr>
          <p:cNvPr id="4" name="TextBox 4"/>
          <p:cNvSpPr txBox="1"/>
          <p:nvPr/>
        </p:nvSpPr>
        <p:spPr>
          <a:xfrm>
            <a:off x="1021594" y="1137675"/>
            <a:ext cx="2434081" cy="582930"/>
          </a:xfrm>
          <a:prstGeom prst="rect">
            <a:avLst/>
          </a:prstGeom>
        </p:spPr>
        <p:txBody>
          <a:bodyPr lIns="0" tIns="0" rIns="0" bIns="0" rtlCol="0" anchor="t">
            <a:spAutoFit/>
          </a:bodyPr>
          <a:lstStyle/>
          <a:p>
            <a:pPr algn="l">
              <a:lnSpc>
                <a:spcPts val="4620"/>
              </a:lnSpc>
              <a:spcBef>
                <a:spcPct val="0"/>
              </a:spcBef>
            </a:pPr>
            <a:r>
              <a:rPr lang="en-US" sz="3300" b="1">
                <a:solidFill>
                  <a:srgbClr val="000000"/>
                </a:solidFill>
                <a:latin typeface="Times New Roman Bold"/>
                <a:ea typeface="Times New Roman Bold"/>
                <a:cs typeface="Times New Roman Bold"/>
                <a:sym typeface="Times New Roman Bold"/>
              </a:rPr>
              <a:t>Home page</a:t>
            </a:r>
          </a:p>
        </p:txBody>
      </p:sp>
      <p:sp>
        <p:nvSpPr>
          <p:cNvPr id="5" name="TextBox 5"/>
          <p:cNvSpPr txBox="1"/>
          <p:nvPr/>
        </p:nvSpPr>
        <p:spPr>
          <a:xfrm>
            <a:off x="128467" y="7554935"/>
            <a:ext cx="18031067" cy="2128139"/>
          </a:xfrm>
          <a:prstGeom prst="rect">
            <a:avLst/>
          </a:prstGeom>
        </p:spPr>
        <p:txBody>
          <a:bodyPr lIns="0" tIns="0" rIns="0" bIns="0" rtlCol="0" anchor="t">
            <a:spAutoFit/>
          </a:bodyPr>
          <a:lstStyle/>
          <a:p>
            <a:pPr algn="l">
              <a:lnSpc>
                <a:spcPts val="4228"/>
              </a:lnSpc>
            </a:pPr>
            <a:r>
              <a:rPr lang="en-US" sz="2800">
                <a:solidFill>
                  <a:srgbClr val="000000"/>
                </a:solidFill>
                <a:latin typeface="Times New Roman"/>
                <a:ea typeface="Times New Roman"/>
                <a:cs typeface="Times New Roman"/>
                <a:sym typeface="Times New Roman"/>
              </a:rPr>
              <a:t>The Home Page is the landing page of the Mindova Learning Application. It provides an introduction to the platform with attractive UI design and highlights important features such as online courses, expert instructors, and interactive quizzes. Users can browse available courses and access the sign-in page easily. The responsive design ensures smooth accessibility across different devices.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3434529" y="1907660"/>
            <a:ext cx="4142354" cy="4836651"/>
          </a:xfrm>
          <a:custGeom>
            <a:avLst/>
            <a:gdLst/>
            <a:ahLst/>
            <a:cxnLst/>
            <a:rect l="l" t="t" r="r" b="b"/>
            <a:pathLst>
              <a:path w="4142354" h="4836651">
                <a:moveTo>
                  <a:pt x="0" y="0"/>
                </a:moveTo>
                <a:lnTo>
                  <a:pt x="4142355" y="0"/>
                </a:lnTo>
                <a:lnTo>
                  <a:pt x="4142355" y="4836651"/>
                </a:lnTo>
                <a:lnTo>
                  <a:pt x="0" y="4836651"/>
                </a:lnTo>
                <a:lnTo>
                  <a:pt x="0" y="0"/>
                </a:lnTo>
                <a:close/>
              </a:path>
            </a:pathLst>
          </a:custGeom>
          <a:blipFill>
            <a:blip r:embed="rId2"/>
            <a:stretch>
              <a:fillRect t="-4829" r="-15788" b="-9658"/>
            </a:stretch>
          </a:blipFill>
        </p:spPr>
        <p:txBody>
          <a:bodyPr/>
          <a:lstStyle/>
          <a:p>
            <a:endParaRPr lang="en-IN"/>
          </a:p>
        </p:txBody>
      </p:sp>
      <p:sp>
        <p:nvSpPr>
          <p:cNvPr id="3" name="Freeform 3"/>
          <p:cNvSpPr/>
          <p:nvPr/>
        </p:nvSpPr>
        <p:spPr>
          <a:xfrm>
            <a:off x="10277685" y="1907660"/>
            <a:ext cx="4179318" cy="4652284"/>
          </a:xfrm>
          <a:custGeom>
            <a:avLst/>
            <a:gdLst/>
            <a:ahLst/>
            <a:cxnLst/>
            <a:rect l="l" t="t" r="r" b="b"/>
            <a:pathLst>
              <a:path w="4179318" h="4652284">
                <a:moveTo>
                  <a:pt x="0" y="0"/>
                </a:moveTo>
                <a:lnTo>
                  <a:pt x="4179318" y="0"/>
                </a:lnTo>
                <a:lnTo>
                  <a:pt x="4179318" y="4652284"/>
                </a:lnTo>
                <a:lnTo>
                  <a:pt x="0" y="4652284"/>
                </a:lnTo>
                <a:lnTo>
                  <a:pt x="0" y="0"/>
                </a:lnTo>
                <a:close/>
              </a:path>
            </a:pathLst>
          </a:custGeom>
          <a:blipFill>
            <a:blip r:embed="rId3"/>
            <a:stretch>
              <a:fillRect l="-13413" t="-18576" r="-43592" b="-502"/>
            </a:stretch>
          </a:blipFill>
        </p:spPr>
        <p:txBody>
          <a:bodyPr/>
          <a:lstStyle/>
          <a:p>
            <a:endParaRPr lang="en-IN"/>
          </a:p>
        </p:txBody>
      </p:sp>
      <p:sp>
        <p:nvSpPr>
          <p:cNvPr id="4" name="TextBox 4"/>
          <p:cNvSpPr txBox="1"/>
          <p:nvPr/>
        </p:nvSpPr>
        <p:spPr>
          <a:xfrm>
            <a:off x="3434529" y="445770"/>
            <a:ext cx="4142354" cy="582930"/>
          </a:xfrm>
          <a:prstGeom prst="rect">
            <a:avLst/>
          </a:prstGeom>
        </p:spPr>
        <p:txBody>
          <a:bodyPr lIns="0" tIns="0" rIns="0" bIns="0" rtlCol="0" anchor="t">
            <a:spAutoFit/>
          </a:bodyPr>
          <a:lstStyle/>
          <a:p>
            <a:pPr algn="ctr">
              <a:lnSpc>
                <a:spcPts val="4620"/>
              </a:lnSpc>
              <a:spcBef>
                <a:spcPct val="0"/>
              </a:spcBef>
            </a:pPr>
            <a:r>
              <a:rPr lang="en-US" sz="3300" b="1">
                <a:solidFill>
                  <a:srgbClr val="000000"/>
                </a:solidFill>
                <a:latin typeface="Times New Roman Bold"/>
                <a:ea typeface="Times New Roman Bold"/>
                <a:cs typeface="Times New Roman Bold"/>
                <a:sym typeface="Times New Roman Bold"/>
              </a:rPr>
              <a:t>Registration Page</a:t>
            </a:r>
          </a:p>
        </p:txBody>
      </p:sp>
      <p:sp>
        <p:nvSpPr>
          <p:cNvPr id="5" name="TextBox 5"/>
          <p:cNvSpPr txBox="1"/>
          <p:nvPr/>
        </p:nvSpPr>
        <p:spPr>
          <a:xfrm>
            <a:off x="11103340" y="445770"/>
            <a:ext cx="2621437" cy="582930"/>
          </a:xfrm>
          <a:prstGeom prst="rect">
            <a:avLst/>
          </a:prstGeom>
        </p:spPr>
        <p:txBody>
          <a:bodyPr lIns="0" tIns="0" rIns="0" bIns="0" rtlCol="0" anchor="t">
            <a:spAutoFit/>
          </a:bodyPr>
          <a:lstStyle/>
          <a:p>
            <a:pPr algn="ctr">
              <a:lnSpc>
                <a:spcPts val="4620"/>
              </a:lnSpc>
              <a:spcBef>
                <a:spcPct val="0"/>
              </a:spcBef>
            </a:pPr>
            <a:r>
              <a:rPr lang="en-US" sz="3300" b="1">
                <a:solidFill>
                  <a:srgbClr val="000000"/>
                </a:solidFill>
                <a:latin typeface="Times New Roman Bold"/>
                <a:ea typeface="Times New Roman Bold"/>
                <a:cs typeface="Times New Roman Bold"/>
                <a:sym typeface="Times New Roman Bold"/>
              </a:rPr>
              <a:t>Login Page</a:t>
            </a:r>
          </a:p>
        </p:txBody>
      </p:sp>
      <p:sp>
        <p:nvSpPr>
          <p:cNvPr id="6" name="TextBox 6"/>
          <p:cNvSpPr txBox="1"/>
          <p:nvPr/>
        </p:nvSpPr>
        <p:spPr>
          <a:xfrm>
            <a:off x="0" y="6992444"/>
            <a:ext cx="18288000" cy="3128771"/>
          </a:xfrm>
          <a:prstGeom prst="rect">
            <a:avLst/>
          </a:prstGeom>
        </p:spPr>
        <p:txBody>
          <a:bodyPr lIns="0" tIns="0" rIns="0" bIns="0" rtlCol="0" anchor="t">
            <a:spAutoFit/>
          </a:bodyPr>
          <a:lstStyle/>
          <a:p>
            <a:pPr algn="l">
              <a:lnSpc>
                <a:spcPts val="4134"/>
              </a:lnSpc>
            </a:pPr>
            <a:r>
              <a:rPr lang="en-US" sz="2600">
                <a:solidFill>
                  <a:srgbClr val="000000"/>
                </a:solidFill>
                <a:latin typeface="Times New Roman"/>
                <a:ea typeface="Times New Roman"/>
                <a:cs typeface="Times New Roman"/>
                <a:sym typeface="Times New Roman"/>
              </a:rPr>
              <a:t>The User Registration and Login Module provides secure access to the Mindova Learning Application. New users can create an account by entering details such as username, email address, password, and selecting their role as Student, Instructor, or Admin. The system validates and securely stores user information in the MongoDB database.</a:t>
            </a:r>
          </a:p>
          <a:p>
            <a:pPr algn="l">
              <a:lnSpc>
                <a:spcPts val="4134"/>
              </a:lnSpc>
            </a:pPr>
            <a:r>
              <a:rPr lang="en-US" sz="2600">
                <a:solidFill>
                  <a:srgbClr val="000000"/>
                </a:solidFill>
                <a:latin typeface="Times New Roman"/>
                <a:ea typeface="Times New Roman"/>
                <a:cs typeface="Times New Roman"/>
                <a:sym typeface="Times New Roman"/>
              </a:rPr>
              <a:t>Registered users can log into the platform using their email and password credentials. After successful JWT authentication, users are redirected to their respective dashboards based on their roles. This module ensures secure authentication, role-based access control, smooth navigation, and improved user experience within the learning platform.</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2487094" y="1479976"/>
            <a:ext cx="13408185" cy="5692019"/>
          </a:xfrm>
          <a:custGeom>
            <a:avLst/>
            <a:gdLst/>
            <a:ahLst/>
            <a:cxnLst/>
            <a:rect l="l" t="t" r="r" b="b"/>
            <a:pathLst>
              <a:path w="13408185" h="5692019">
                <a:moveTo>
                  <a:pt x="0" y="0"/>
                </a:moveTo>
                <a:lnTo>
                  <a:pt x="13408185" y="0"/>
                </a:lnTo>
                <a:lnTo>
                  <a:pt x="13408185" y="5692019"/>
                </a:lnTo>
                <a:lnTo>
                  <a:pt x="0" y="5692019"/>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419078" y="694373"/>
            <a:ext cx="6667522" cy="541623"/>
          </a:xfrm>
          <a:prstGeom prst="rect">
            <a:avLst/>
          </a:prstGeom>
        </p:spPr>
        <p:txBody>
          <a:bodyPr wrap="square" lIns="0" tIns="0" rIns="0" bIns="0" rtlCol="0" anchor="t">
            <a:spAutoFit/>
          </a:bodyPr>
          <a:lstStyle/>
          <a:p>
            <a:pPr algn="ctr">
              <a:lnSpc>
                <a:spcPts val="4620"/>
              </a:lnSpc>
              <a:spcBef>
                <a:spcPct val="0"/>
              </a:spcBef>
            </a:pPr>
            <a:r>
              <a:rPr lang="en-US" sz="3300" b="1">
                <a:solidFill>
                  <a:srgbClr val="000000"/>
                </a:solidFill>
                <a:latin typeface="Times New Roman Bold"/>
                <a:ea typeface="Times New Roman Bold"/>
                <a:cs typeface="Times New Roman Bold"/>
                <a:sym typeface="Times New Roman Bold"/>
              </a:rPr>
              <a:t>Featured Courses Page</a:t>
            </a:r>
          </a:p>
        </p:txBody>
      </p:sp>
      <p:sp>
        <p:nvSpPr>
          <p:cNvPr id="4" name="TextBox 4"/>
          <p:cNvSpPr txBox="1"/>
          <p:nvPr/>
        </p:nvSpPr>
        <p:spPr>
          <a:xfrm>
            <a:off x="419078" y="7197090"/>
            <a:ext cx="17865629" cy="2453384"/>
          </a:xfrm>
          <a:prstGeom prst="rect">
            <a:avLst/>
          </a:prstGeom>
        </p:spPr>
        <p:txBody>
          <a:bodyPr lIns="0" tIns="0" rIns="0" bIns="0" rtlCol="0" anchor="t">
            <a:spAutoFit/>
          </a:bodyPr>
          <a:lstStyle/>
          <a:p>
            <a:pPr algn="l">
              <a:lnSpc>
                <a:spcPts val="6692"/>
              </a:lnSpc>
            </a:pPr>
            <a:r>
              <a:rPr lang="en-US" sz="2800">
                <a:solidFill>
                  <a:srgbClr val="000000"/>
                </a:solidFill>
                <a:latin typeface="Times New Roman"/>
                <a:ea typeface="Times New Roman"/>
                <a:cs typeface="Times New Roman"/>
                <a:sym typeface="Times New Roman"/>
              </a:rPr>
              <a:t>The Featured Courses section displays various technical and professional courses available on the platform. Each course card contains course title, description, pricing, and enrollment options. This section helps learners explore courses such as AI, Web Development, Machine Learning, SQL, and Android Development  etc...in an organized manner.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972181" y="1386845"/>
            <a:ext cx="13416015" cy="5742569"/>
          </a:xfrm>
          <a:custGeom>
            <a:avLst/>
            <a:gdLst/>
            <a:ahLst/>
            <a:cxnLst/>
            <a:rect l="l" t="t" r="r" b="b"/>
            <a:pathLst>
              <a:path w="13416015" h="5742569">
                <a:moveTo>
                  <a:pt x="0" y="0"/>
                </a:moveTo>
                <a:lnTo>
                  <a:pt x="13416015" y="0"/>
                </a:lnTo>
                <a:lnTo>
                  <a:pt x="13416015" y="5742569"/>
                </a:lnTo>
                <a:lnTo>
                  <a:pt x="0" y="5742569"/>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1131309" y="596582"/>
            <a:ext cx="4964691" cy="542848"/>
          </a:xfrm>
          <a:prstGeom prst="rect">
            <a:avLst/>
          </a:prstGeom>
        </p:spPr>
        <p:txBody>
          <a:bodyPr wrap="square"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Admin Dashboard</a:t>
            </a:r>
          </a:p>
        </p:txBody>
      </p:sp>
      <p:sp>
        <p:nvSpPr>
          <p:cNvPr id="4" name="TextBox 4"/>
          <p:cNvSpPr txBox="1"/>
          <p:nvPr/>
        </p:nvSpPr>
        <p:spPr>
          <a:xfrm>
            <a:off x="0" y="7110364"/>
            <a:ext cx="18288000" cy="2037206"/>
          </a:xfrm>
          <a:prstGeom prst="rect">
            <a:avLst/>
          </a:prstGeom>
        </p:spPr>
        <p:txBody>
          <a:bodyPr lIns="0" tIns="0" rIns="0" bIns="0" rtlCol="0" anchor="t">
            <a:spAutoFit/>
          </a:bodyPr>
          <a:lstStyle/>
          <a:p>
            <a:pPr algn="l">
              <a:lnSpc>
                <a:spcPts val="5544"/>
              </a:lnSpc>
            </a:pPr>
            <a:r>
              <a:rPr lang="en-US" sz="2800">
                <a:solidFill>
                  <a:srgbClr val="000000"/>
                </a:solidFill>
                <a:latin typeface="Times New Roman"/>
                <a:ea typeface="Times New Roman"/>
                <a:cs typeface="Times New Roman"/>
                <a:sym typeface="Times New Roman"/>
              </a:rPr>
              <a:t>The Admin Dashboard provides complete control over the learning platform. Admins can monitor total users, courses, students, and instructors. The dashboard also manages enrollment requests and generates student progress reports for better system administration.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349024" y="1284952"/>
            <a:ext cx="13446295" cy="4282745"/>
          </a:xfrm>
          <a:custGeom>
            <a:avLst/>
            <a:gdLst/>
            <a:ahLst/>
            <a:cxnLst/>
            <a:rect l="l" t="t" r="r" b="b"/>
            <a:pathLst>
              <a:path w="13446295" h="4282745">
                <a:moveTo>
                  <a:pt x="0" y="0"/>
                </a:moveTo>
                <a:lnTo>
                  <a:pt x="13446295" y="0"/>
                </a:lnTo>
                <a:lnTo>
                  <a:pt x="13446295" y="4282746"/>
                </a:lnTo>
                <a:lnTo>
                  <a:pt x="0" y="4282746"/>
                </a:lnTo>
                <a:lnTo>
                  <a:pt x="0" y="0"/>
                </a:lnTo>
                <a:close/>
              </a:path>
            </a:pathLst>
          </a:custGeom>
          <a:blipFill>
            <a:blip r:embed="rId2"/>
            <a:stretch>
              <a:fillRect b="-10907"/>
            </a:stretch>
          </a:blipFill>
        </p:spPr>
        <p:txBody>
          <a:bodyPr/>
          <a:lstStyle/>
          <a:p>
            <a:endParaRPr lang="en-IN"/>
          </a:p>
        </p:txBody>
      </p:sp>
      <p:sp>
        <p:nvSpPr>
          <p:cNvPr id="3" name="Freeform 3"/>
          <p:cNvSpPr/>
          <p:nvPr/>
        </p:nvSpPr>
        <p:spPr>
          <a:xfrm>
            <a:off x="2525596" y="5796298"/>
            <a:ext cx="6852432" cy="4300062"/>
          </a:xfrm>
          <a:custGeom>
            <a:avLst/>
            <a:gdLst/>
            <a:ahLst/>
            <a:cxnLst/>
            <a:rect l="l" t="t" r="r" b="b"/>
            <a:pathLst>
              <a:path w="6852432" h="4300062">
                <a:moveTo>
                  <a:pt x="0" y="0"/>
                </a:moveTo>
                <a:lnTo>
                  <a:pt x="6852432" y="0"/>
                </a:lnTo>
                <a:lnTo>
                  <a:pt x="6852432" y="4300062"/>
                </a:lnTo>
                <a:lnTo>
                  <a:pt x="0" y="4300062"/>
                </a:lnTo>
                <a:lnTo>
                  <a:pt x="0" y="0"/>
                </a:lnTo>
                <a:close/>
              </a:path>
            </a:pathLst>
          </a:custGeom>
          <a:blipFill>
            <a:blip r:embed="rId3"/>
            <a:stretch>
              <a:fillRect l="-6135" t="-14361" r="-17384" b="-20641"/>
            </a:stretch>
          </a:blipFill>
        </p:spPr>
        <p:txBody>
          <a:bodyPr/>
          <a:lstStyle/>
          <a:p>
            <a:endParaRPr lang="en-IN"/>
          </a:p>
        </p:txBody>
      </p:sp>
      <p:sp>
        <p:nvSpPr>
          <p:cNvPr id="4" name="Freeform 4"/>
          <p:cNvSpPr/>
          <p:nvPr/>
        </p:nvSpPr>
        <p:spPr>
          <a:xfrm>
            <a:off x="10730954" y="6008387"/>
            <a:ext cx="5801725" cy="4066523"/>
          </a:xfrm>
          <a:custGeom>
            <a:avLst/>
            <a:gdLst/>
            <a:ahLst/>
            <a:cxnLst/>
            <a:rect l="l" t="t" r="r" b="b"/>
            <a:pathLst>
              <a:path w="5801725" h="4066523">
                <a:moveTo>
                  <a:pt x="0" y="0"/>
                </a:moveTo>
                <a:lnTo>
                  <a:pt x="5801725" y="0"/>
                </a:lnTo>
                <a:lnTo>
                  <a:pt x="5801725" y="4066523"/>
                </a:lnTo>
                <a:lnTo>
                  <a:pt x="0" y="4066523"/>
                </a:lnTo>
                <a:lnTo>
                  <a:pt x="0" y="0"/>
                </a:lnTo>
                <a:close/>
              </a:path>
            </a:pathLst>
          </a:custGeom>
          <a:blipFill>
            <a:blip r:embed="rId4"/>
            <a:stretch>
              <a:fillRect l="-23753" t="-23112" r="-43480" b="-16464"/>
            </a:stretch>
          </a:blipFill>
        </p:spPr>
        <p:txBody>
          <a:bodyPr/>
          <a:lstStyle/>
          <a:p>
            <a:endParaRPr lang="en-IN"/>
          </a:p>
        </p:txBody>
      </p:sp>
      <p:sp>
        <p:nvSpPr>
          <p:cNvPr id="5" name="TextBox 5"/>
          <p:cNvSpPr txBox="1"/>
          <p:nvPr/>
        </p:nvSpPr>
        <p:spPr>
          <a:xfrm>
            <a:off x="349024" y="445769"/>
            <a:ext cx="6280376" cy="541623"/>
          </a:xfrm>
          <a:prstGeom prst="rect">
            <a:avLst/>
          </a:prstGeom>
        </p:spPr>
        <p:txBody>
          <a:bodyPr wrap="square"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Student Dashboard</a:t>
            </a:r>
          </a:p>
        </p:txBody>
      </p:sp>
      <p:sp>
        <p:nvSpPr>
          <p:cNvPr id="6" name="TextBox 6"/>
          <p:cNvSpPr txBox="1"/>
          <p:nvPr/>
        </p:nvSpPr>
        <p:spPr>
          <a:xfrm>
            <a:off x="349024" y="5720098"/>
            <a:ext cx="2176571" cy="500380"/>
          </a:xfrm>
          <a:prstGeom prst="rect">
            <a:avLst/>
          </a:prstGeom>
        </p:spPr>
        <p:txBody>
          <a:bodyPr lIns="0" tIns="0" rIns="0" bIns="0" rtlCol="0" anchor="t">
            <a:spAutoFit/>
          </a:bodyPr>
          <a:lstStyle/>
          <a:p>
            <a:pPr algn="ctr">
              <a:lnSpc>
                <a:spcPts val="3920"/>
              </a:lnSpc>
              <a:spcBef>
                <a:spcPct val="0"/>
              </a:spcBef>
            </a:pPr>
            <a:r>
              <a:rPr lang="en-US" sz="2800" b="1">
                <a:solidFill>
                  <a:srgbClr val="000000"/>
                </a:solidFill>
                <a:latin typeface="Times New Roman Bold"/>
                <a:ea typeface="Times New Roman Bold"/>
                <a:cs typeface="Times New Roman Bold"/>
                <a:sym typeface="Times New Roman Bold"/>
              </a:rPr>
              <a:t>Quiz Page</a:t>
            </a:r>
          </a:p>
        </p:txBody>
      </p:sp>
      <p:sp>
        <p:nvSpPr>
          <p:cNvPr id="7" name="TextBox 7"/>
          <p:cNvSpPr txBox="1"/>
          <p:nvPr/>
        </p:nvSpPr>
        <p:spPr>
          <a:xfrm>
            <a:off x="9378028" y="5481973"/>
            <a:ext cx="5996030" cy="542925"/>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Times New Roman Bold"/>
                <a:ea typeface="Times New Roman Bold"/>
                <a:cs typeface="Times New Roman Bold"/>
                <a:sym typeface="Times New Roman Bold"/>
              </a:rPr>
              <a:t>Certificate Generation Page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028700" y="2607577"/>
            <a:ext cx="13208097" cy="4880818"/>
          </a:xfrm>
          <a:custGeom>
            <a:avLst/>
            <a:gdLst/>
            <a:ahLst/>
            <a:cxnLst/>
            <a:rect l="l" t="t" r="r" b="b"/>
            <a:pathLst>
              <a:path w="13208097" h="4880818">
                <a:moveTo>
                  <a:pt x="0" y="0"/>
                </a:moveTo>
                <a:lnTo>
                  <a:pt x="13208097" y="0"/>
                </a:lnTo>
                <a:lnTo>
                  <a:pt x="13208097" y="4880817"/>
                </a:lnTo>
                <a:lnTo>
                  <a:pt x="0" y="4880817"/>
                </a:lnTo>
                <a:lnTo>
                  <a:pt x="0" y="0"/>
                </a:lnTo>
                <a:close/>
              </a:path>
            </a:pathLst>
          </a:custGeom>
          <a:blipFill>
            <a:blip r:embed="rId2"/>
            <a:stretch>
              <a:fillRect r="-1768"/>
            </a:stretch>
          </a:blipFill>
        </p:spPr>
        <p:txBody>
          <a:bodyPr/>
          <a:lstStyle/>
          <a:p>
            <a:endParaRPr lang="en-IN"/>
          </a:p>
        </p:txBody>
      </p:sp>
      <p:sp>
        <p:nvSpPr>
          <p:cNvPr id="3" name="TextBox 3"/>
          <p:cNvSpPr txBox="1"/>
          <p:nvPr/>
        </p:nvSpPr>
        <p:spPr>
          <a:xfrm>
            <a:off x="-746301" y="1796047"/>
            <a:ext cx="7564597" cy="582930"/>
          </a:xfrm>
          <a:prstGeom prst="rect">
            <a:avLst/>
          </a:prstGeom>
        </p:spPr>
        <p:txBody>
          <a:bodyPr lIns="0" tIns="0" rIns="0" bIns="0" rtlCol="0" anchor="t">
            <a:spAutoFit/>
          </a:bodyPr>
          <a:lstStyle/>
          <a:p>
            <a:pPr algn="ctr">
              <a:lnSpc>
                <a:spcPts val="4620"/>
              </a:lnSpc>
              <a:spcBef>
                <a:spcPct val="0"/>
              </a:spcBef>
            </a:pPr>
            <a:r>
              <a:rPr lang="en-US" sz="3300" b="1">
                <a:solidFill>
                  <a:srgbClr val="000000"/>
                </a:solidFill>
                <a:latin typeface="Times New Roman Bold"/>
                <a:ea typeface="Times New Roman Bold"/>
                <a:cs typeface="Times New Roman Bold"/>
                <a:sym typeface="Times New Roman Bold"/>
              </a:rPr>
              <a:t>Instructor Course Management</a:t>
            </a:r>
          </a:p>
        </p:txBody>
      </p:sp>
      <p:sp>
        <p:nvSpPr>
          <p:cNvPr id="4" name="TextBox 4"/>
          <p:cNvSpPr txBox="1"/>
          <p:nvPr/>
        </p:nvSpPr>
        <p:spPr>
          <a:xfrm>
            <a:off x="210218" y="336550"/>
            <a:ext cx="18288000" cy="1317624"/>
          </a:xfrm>
          <a:prstGeom prst="rect">
            <a:avLst/>
          </a:prstGeom>
        </p:spPr>
        <p:txBody>
          <a:bodyPr lIns="0" tIns="0" rIns="0" bIns="0" rtlCol="0" anchor="t">
            <a:spAutoFit/>
          </a:bodyPr>
          <a:lstStyle/>
          <a:p>
            <a:pPr algn="l">
              <a:lnSpc>
                <a:spcPts val="3500"/>
              </a:lnSpc>
              <a:spcBef>
                <a:spcPct val="0"/>
              </a:spcBef>
            </a:pPr>
            <a:r>
              <a:rPr lang="en-US" sz="2500">
                <a:solidFill>
                  <a:srgbClr val="000000"/>
                </a:solidFill>
                <a:latin typeface="Times New Roman"/>
                <a:ea typeface="Times New Roman"/>
                <a:cs typeface="Times New Roman"/>
                <a:sym typeface="Times New Roman"/>
              </a:rPr>
              <a:t>The Student Dashboard allows students to access enrolled courses, track learning progress, watch videos, attempt quizzes, and monitor course completion status. The Quiz Module helps assess student knowledge through multiple-choice questions, while the Certificate Generation Module provides downloadable certificates after successful course completion.</a:t>
            </a:r>
          </a:p>
        </p:txBody>
      </p:sp>
      <p:sp>
        <p:nvSpPr>
          <p:cNvPr id="5" name="TextBox 5"/>
          <p:cNvSpPr txBox="1"/>
          <p:nvPr/>
        </p:nvSpPr>
        <p:spPr>
          <a:xfrm>
            <a:off x="210218" y="7650319"/>
            <a:ext cx="18077782" cy="915035"/>
          </a:xfrm>
          <a:prstGeom prst="rect">
            <a:avLst/>
          </a:prstGeom>
        </p:spPr>
        <p:txBody>
          <a:bodyPr lIns="0" tIns="0" rIns="0" bIns="0" rtlCol="0" anchor="t">
            <a:spAutoFit/>
          </a:bodyPr>
          <a:lstStyle/>
          <a:p>
            <a:pPr algn="l">
              <a:lnSpc>
                <a:spcPts val="3640"/>
              </a:lnSpc>
              <a:spcBef>
                <a:spcPct val="0"/>
              </a:spcBef>
            </a:pPr>
            <a:r>
              <a:rPr lang="en-US" sz="2600">
                <a:solidFill>
                  <a:srgbClr val="000000"/>
                </a:solidFill>
                <a:latin typeface="Times New Roman"/>
                <a:ea typeface="Times New Roman"/>
                <a:cs typeface="Times New Roman"/>
                <a:sym typeface="Times New Roman"/>
              </a:rPr>
              <a:t>The Instructor Dashboard allows instructors to create and manage courses. Instructors can add course titles, descriptions, pricing details, and video links. This feature helps instructors upload educational content and manage learning resources efficiently.</a:t>
            </a:r>
          </a:p>
        </p:txBody>
      </p:sp>
      <p:sp>
        <p:nvSpPr>
          <p:cNvPr id="7" name="TextBox 6">
            <a:extLst>
              <a:ext uri="{FF2B5EF4-FFF2-40B4-BE49-F238E27FC236}">
                <a16:creationId xmlns:a16="http://schemas.microsoft.com/office/drawing/2014/main" id="{829BEE24-1CE3-739F-1C2A-6427C09486A2}"/>
              </a:ext>
            </a:extLst>
          </p:cNvPr>
          <p:cNvSpPr txBox="1"/>
          <p:nvPr/>
        </p:nvSpPr>
        <p:spPr>
          <a:xfrm>
            <a:off x="210218" y="8877300"/>
            <a:ext cx="13627197" cy="1077218"/>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Link of project</a:t>
            </a:r>
            <a:r>
              <a:rPr lang="en-US" sz="36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hlinkClick r:id="rId3"/>
              </a:rPr>
              <a:t>mindova-learning-application-345mu7cj3.vercel.app</a:t>
            </a:r>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974608" y="407670"/>
            <a:ext cx="3217621" cy="816611"/>
          </a:xfrm>
          <a:prstGeom prst="rect">
            <a:avLst/>
          </a:prstGeom>
        </p:spPr>
        <p:txBody>
          <a:bodyPr lIns="0" tIns="0" rIns="0" bIns="0" rtlCol="0" anchor="t">
            <a:spAutoFit/>
          </a:bodyPr>
          <a:lstStyle/>
          <a:p>
            <a:pPr algn="ctr">
              <a:lnSpc>
                <a:spcPts val="6439"/>
              </a:lnSpc>
              <a:spcBef>
                <a:spcPct val="0"/>
              </a:spcBef>
            </a:pPr>
            <a:r>
              <a:rPr lang="en-US" sz="4599" b="1">
                <a:solidFill>
                  <a:srgbClr val="000000"/>
                </a:solidFill>
                <a:latin typeface="Times New Roman Bold"/>
                <a:ea typeface="Times New Roman Bold"/>
                <a:cs typeface="Times New Roman Bold"/>
                <a:sym typeface="Times New Roman Bold"/>
              </a:rPr>
              <a:t>Conclusion</a:t>
            </a:r>
          </a:p>
        </p:txBody>
      </p:sp>
      <p:sp>
        <p:nvSpPr>
          <p:cNvPr id="3" name="TextBox 3"/>
          <p:cNvSpPr txBox="1"/>
          <p:nvPr/>
        </p:nvSpPr>
        <p:spPr>
          <a:xfrm>
            <a:off x="1168845" y="2209061"/>
            <a:ext cx="16259915" cy="6397752"/>
          </a:xfrm>
          <a:prstGeom prst="rect">
            <a:avLst/>
          </a:prstGeom>
        </p:spPr>
        <p:txBody>
          <a:bodyPr lIns="0" tIns="0" rIns="0" bIns="0" rtlCol="0" anchor="t">
            <a:spAutoFit/>
          </a:bodyPr>
          <a:lstStyle/>
          <a:p>
            <a:pPr algn="l">
              <a:lnSpc>
                <a:spcPts val="6383"/>
              </a:lnSpc>
            </a:pPr>
            <a:r>
              <a:rPr lang="en-US" sz="2799">
                <a:solidFill>
                  <a:srgbClr val="000000"/>
                </a:solidFill>
                <a:latin typeface="Times New Roman"/>
                <a:ea typeface="Times New Roman"/>
                <a:cs typeface="Times New Roman"/>
                <a:sym typeface="Times New Roman"/>
              </a:rPr>
              <a:t>The Mindova Learning Application successfully provides a responsive and secure online learning platform developed using MERN stack technologies. The project integrates features such as user authentication, course management, video learning, quizzes, progress tracking, and certificate generation into a single system.</a:t>
            </a:r>
          </a:p>
          <a:p>
            <a:pPr algn="l">
              <a:lnSpc>
                <a:spcPts val="6383"/>
              </a:lnSpc>
            </a:pPr>
            <a:r>
              <a:rPr lang="en-US" sz="2799">
                <a:solidFill>
                  <a:srgbClr val="000000"/>
                </a:solidFill>
                <a:latin typeface="Times New Roman"/>
                <a:ea typeface="Times New Roman"/>
                <a:cs typeface="Times New Roman"/>
                <a:sym typeface="Times New Roman"/>
              </a:rPr>
              <a:t>The application improves accessibility and provides a smooth learning experience through an interactive and user-friendly interface. It also enhanced practical understanding of frontend development, backend integration, database management, API communication, and deployment processes. Overall, the project demonstrates effective implementation of full-stack web development concepts and supports future enhancements for advanced online learning systems.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7109814" y="48587"/>
            <a:ext cx="3764723" cy="816610"/>
          </a:xfrm>
          <a:prstGeom prst="rect">
            <a:avLst/>
          </a:prstGeom>
        </p:spPr>
        <p:txBody>
          <a:bodyPr lIns="0" tIns="0" rIns="0" bIns="0" rtlCol="0" anchor="t">
            <a:spAutoFit/>
          </a:bodyPr>
          <a:lstStyle/>
          <a:p>
            <a:pPr algn="ctr">
              <a:lnSpc>
                <a:spcPts val="6439"/>
              </a:lnSpc>
              <a:spcBef>
                <a:spcPct val="0"/>
              </a:spcBef>
            </a:pPr>
            <a:r>
              <a:rPr lang="en-US" sz="4599" b="1">
                <a:solidFill>
                  <a:srgbClr val="000000"/>
                </a:solidFill>
                <a:latin typeface="Times New Roman Bold"/>
                <a:ea typeface="Times New Roman Bold"/>
                <a:cs typeface="Times New Roman Bold"/>
                <a:sym typeface="Times New Roman Bold"/>
              </a:rPr>
              <a:t>References</a:t>
            </a:r>
          </a:p>
        </p:txBody>
      </p:sp>
      <p:sp>
        <p:nvSpPr>
          <p:cNvPr id="3" name="TextBox 3"/>
          <p:cNvSpPr txBox="1"/>
          <p:nvPr/>
        </p:nvSpPr>
        <p:spPr>
          <a:xfrm>
            <a:off x="308664" y="914400"/>
            <a:ext cx="16521550" cy="9185025"/>
          </a:xfrm>
          <a:prstGeom prst="rect">
            <a:avLst/>
          </a:prstGeom>
        </p:spPr>
        <p:txBody>
          <a:bodyPr lIns="0" tIns="0" rIns="0" bIns="0" rtlCol="0" anchor="t">
            <a:spAutoFit/>
          </a:bodyPr>
          <a:lstStyle/>
          <a:p>
            <a:pPr marL="476339" lvl="1" indent="-238170" algn="l">
              <a:lnSpc>
                <a:spcPts val="3662"/>
              </a:lnSpc>
              <a:buFont typeface="Arial"/>
              <a:buChar char="•"/>
            </a:pPr>
            <a:r>
              <a:rPr lang="en-US" sz="2206" spc="22">
                <a:solidFill>
                  <a:srgbClr val="000000"/>
                </a:solidFill>
                <a:latin typeface="Times New Roman"/>
                <a:ea typeface="Times New Roman"/>
                <a:cs typeface="Times New Roman"/>
                <a:sym typeface="Times New Roman"/>
              </a:rPr>
              <a:t>React Documentation – Used for developing responsive frontend components and managing the user interface.</a:t>
            </a:r>
          </a:p>
          <a:p>
            <a:pPr algn="l">
              <a:lnSpc>
                <a:spcPts val="3662"/>
              </a:lnSpc>
            </a:pPr>
            <a:r>
              <a:rPr lang="en-US" sz="2206" spc="22">
                <a:solidFill>
                  <a:srgbClr val="000000"/>
                </a:solidFill>
                <a:latin typeface="Times New Roman"/>
                <a:ea typeface="Times New Roman"/>
                <a:cs typeface="Times New Roman"/>
                <a:sym typeface="Times New Roman"/>
              </a:rPr>
              <a:t> Link: </a:t>
            </a:r>
            <a:r>
              <a:rPr lang="en-US" sz="2206" u="sng" spc="22">
                <a:solidFill>
                  <a:srgbClr val="000000"/>
                </a:solidFill>
                <a:latin typeface="Times New Roman"/>
                <a:ea typeface="Times New Roman"/>
                <a:cs typeface="Times New Roman"/>
                <a:sym typeface="Times New Roman"/>
                <a:hlinkClick r:id="rId2" tooltip="https://react.dev/?utm_source=chatgpt.com"/>
              </a:rPr>
              <a:t>https://react.dev</a:t>
            </a:r>
          </a:p>
          <a:p>
            <a:pPr marL="476339" lvl="1" indent="-238170" algn="l">
              <a:lnSpc>
                <a:spcPts val="3662"/>
              </a:lnSpc>
              <a:buFont typeface="Arial"/>
              <a:buChar char="•"/>
            </a:pPr>
            <a:r>
              <a:rPr lang="en-US" sz="2206" spc="22">
                <a:solidFill>
                  <a:srgbClr val="000000"/>
                </a:solidFill>
                <a:latin typeface="Times New Roman"/>
                <a:ea typeface="Times New Roman"/>
                <a:cs typeface="Times New Roman"/>
                <a:sym typeface="Times New Roman"/>
              </a:rPr>
              <a:t>Node.js Documentation – Referred for backend server development and API handling.</a:t>
            </a:r>
          </a:p>
          <a:p>
            <a:pPr algn="l">
              <a:lnSpc>
                <a:spcPts val="3662"/>
              </a:lnSpc>
            </a:pPr>
            <a:r>
              <a:rPr lang="en-US" sz="2206" spc="22">
                <a:solidFill>
                  <a:srgbClr val="000000"/>
                </a:solidFill>
                <a:latin typeface="Times New Roman"/>
                <a:ea typeface="Times New Roman"/>
                <a:cs typeface="Times New Roman"/>
                <a:sym typeface="Times New Roman"/>
              </a:rPr>
              <a:t>Link: </a:t>
            </a:r>
            <a:r>
              <a:rPr lang="en-US" sz="2206" u="sng" spc="22">
                <a:solidFill>
                  <a:srgbClr val="000000"/>
                </a:solidFill>
                <a:latin typeface="Times New Roman"/>
                <a:ea typeface="Times New Roman"/>
                <a:cs typeface="Times New Roman"/>
                <a:sym typeface="Times New Roman"/>
                <a:hlinkClick r:id="rId3" tooltip="https://nodejs.org/?utm_source=chatgpt.com"/>
              </a:rPr>
              <a:t>https://nodejs.org</a:t>
            </a:r>
          </a:p>
          <a:p>
            <a:pPr marL="476339" lvl="1" indent="-238170" algn="l">
              <a:lnSpc>
                <a:spcPts val="3662"/>
              </a:lnSpc>
              <a:buFont typeface="Arial"/>
              <a:buChar char="•"/>
            </a:pPr>
            <a:r>
              <a:rPr lang="en-US" sz="2206" spc="22">
                <a:solidFill>
                  <a:srgbClr val="000000"/>
                </a:solidFill>
                <a:latin typeface="Times New Roman"/>
                <a:ea typeface="Times New Roman"/>
                <a:cs typeface="Times New Roman"/>
                <a:sym typeface="Times New Roman"/>
              </a:rPr>
              <a:t>Express.js Documentation – Used for creating REST APIs and backend routing functionality.</a:t>
            </a:r>
          </a:p>
          <a:p>
            <a:pPr algn="l">
              <a:lnSpc>
                <a:spcPts val="3662"/>
              </a:lnSpc>
            </a:pPr>
            <a:r>
              <a:rPr lang="en-US" sz="2206" spc="22">
                <a:solidFill>
                  <a:srgbClr val="000000"/>
                </a:solidFill>
                <a:latin typeface="Times New Roman"/>
                <a:ea typeface="Times New Roman"/>
                <a:cs typeface="Times New Roman"/>
                <a:sym typeface="Times New Roman"/>
              </a:rPr>
              <a:t> Link: </a:t>
            </a:r>
            <a:r>
              <a:rPr lang="en-US" sz="2206" u="sng" spc="22">
                <a:solidFill>
                  <a:srgbClr val="000000"/>
                </a:solidFill>
                <a:latin typeface="Times New Roman"/>
                <a:ea typeface="Times New Roman"/>
                <a:cs typeface="Times New Roman"/>
                <a:sym typeface="Times New Roman"/>
                <a:hlinkClick r:id="rId4" tooltip="https://expressjs.com/?utm_source=chatgpt.com"/>
              </a:rPr>
              <a:t>https://expressjs.com</a:t>
            </a:r>
          </a:p>
          <a:p>
            <a:pPr marL="476339" lvl="1" indent="-238170" algn="l">
              <a:lnSpc>
                <a:spcPts val="3662"/>
              </a:lnSpc>
              <a:buFont typeface="Arial"/>
              <a:buChar char="•"/>
            </a:pPr>
            <a:r>
              <a:rPr lang="en-US" sz="2206" spc="22">
                <a:solidFill>
                  <a:srgbClr val="000000"/>
                </a:solidFill>
                <a:latin typeface="Times New Roman"/>
                <a:ea typeface="Times New Roman"/>
                <a:cs typeface="Times New Roman"/>
                <a:sym typeface="Times New Roman"/>
              </a:rPr>
              <a:t>MongoDB Documentation – Helped in database integration and data management.</a:t>
            </a:r>
          </a:p>
          <a:p>
            <a:pPr algn="l">
              <a:lnSpc>
                <a:spcPts val="3662"/>
              </a:lnSpc>
            </a:pPr>
            <a:r>
              <a:rPr lang="en-US" sz="2206" spc="22">
                <a:solidFill>
                  <a:srgbClr val="000000"/>
                </a:solidFill>
                <a:latin typeface="Times New Roman"/>
                <a:ea typeface="Times New Roman"/>
                <a:cs typeface="Times New Roman"/>
                <a:sym typeface="Times New Roman"/>
              </a:rPr>
              <a:t> Link: </a:t>
            </a:r>
            <a:r>
              <a:rPr lang="en-US" sz="2206" u="sng" spc="22">
                <a:solidFill>
                  <a:srgbClr val="000000"/>
                </a:solidFill>
                <a:latin typeface="Times New Roman"/>
                <a:ea typeface="Times New Roman"/>
                <a:cs typeface="Times New Roman"/>
                <a:sym typeface="Times New Roman"/>
                <a:hlinkClick r:id="rId5" tooltip="https://www.mongodb.com/docs?utm_source=chatgpt.com"/>
              </a:rPr>
              <a:t>https://www.mongodb.com/docs</a:t>
            </a:r>
          </a:p>
          <a:p>
            <a:pPr marL="476339" lvl="1" indent="-238170" algn="l">
              <a:lnSpc>
                <a:spcPts val="3662"/>
              </a:lnSpc>
              <a:buFont typeface="Arial"/>
              <a:buChar char="•"/>
            </a:pPr>
            <a:r>
              <a:rPr lang="en-US" sz="2206" spc="22">
                <a:solidFill>
                  <a:srgbClr val="000000"/>
                </a:solidFill>
                <a:latin typeface="Times New Roman"/>
                <a:ea typeface="Times New Roman"/>
                <a:cs typeface="Times New Roman"/>
                <a:sym typeface="Times New Roman"/>
              </a:rPr>
              <a:t>Tailwind CSS Documentation – Used for responsive UI design and frontend styling.</a:t>
            </a:r>
          </a:p>
          <a:p>
            <a:pPr algn="l">
              <a:lnSpc>
                <a:spcPts val="3662"/>
              </a:lnSpc>
            </a:pPr>
            <a:r>
              <a:rPr lang="en-US" sz="2206" spc="22">
                <a:solidFill>
                  <a:srgbClr val="000000"/>
                </a:solidFill>
                <a:latin typeface="Times New Roman"/>
                <a:ea typeface="Times New Roman"/>
                <a:cs typeface="Times New Roman"/>
                <a:sym typeface="Times New Roman"/>
              </a:rPr>
              <a:t> Link: </a:t>
            </a:r>
            <a:r>
              <a:rPr lang="en-US" sz="2206" u="sng" spc="22">
                <a:solidFill>
                  <a:srgbClr val="000000"/>
                </a:solidFill>
                <a:latin typeface="Times New Roman"/>
                <a:ea typeface="Times New Roman"/>
                <a:cs typeface="Times New Roman"/>
                <a:sym typeface="Times New Roman"/>
                <a:hlinkClick r:id="rId6" tooltip="https://tailwindcss.com/?utm_source=chatgpt.com"/>
              </a:rPr>
              <a:t>https://tailwindcss.com</a:t>
            </a:r>
          </a:p>
          <a:p>
            <a:pPr marL="476339" lvl="1" indent="-238170" algn="l">
              <a:lnSpc>
                <a:spcPts val="3662"/>
              </a:lnSpc>
              <a:buFont typeface="Arial"/>
              <a:buChar char="•"/>
            </a:pPr>
            <a:r>
              <a:rPr lang="en-US" sz="2206" spc="22">
                <a:solidFill>
                  <a:srgbClr val="000000"/>
                </a:solidFill>
                <a:latin typeface="Times New Roman"/>
                <a:ea typeface="Times New Roman"/>
                <a:cs typeface="Times New Roman"/>
                <a:sym typeface="Times New Roman"/>
              </a:rPr>
              <a:t>JWT Official Website – Referred for implementing secure authentication and authorization.</a:t>
            </a:r>
          </a:p>
          <a:p>
            <a:pPr algn="l">
              <a:lnSpc>
                <a:spcPts val="3662"/>
              </a:lnSpc>
            </a:pPr>
            <a:r>
              <a:rPr lang="en-US" sz="2206" spc="22">
                <a:solidFill>
                  <a:srgbClr val="000000"/>
                </a:solidFill>
                <a:latin typeface="Times New Roman"/>
                <a:ea typeface="Times New Roman"/>
                <a:cs typeface="Times New Roman"/>
                <a:sym typeface="Times New Roman"/>
              </a:rPr>
              <a:t>Link: </a:t>
            </a:r>
            <a:r>
              <a:rPr lang="en-US" sz="2206" u="sng" spc="22">
                <a:solidFill>
                  <a:srgbClr val="000000"/>
                </a:solidFill>
                <a:latin typeface="Times New Roman"/>
                <a:ea typeface="Times New Roman"/>
                <a:cs typeface="Times New Roman"/>
                <a:sym typeface="Times New Roman"/>
                <a:hlinkClick r:id="rId7" tooltip="https://jwt.io/?utm_source=chatgpt.com"/>
              </a:rPr>
              <a:t>https://jwt.io</a:t>
            </a:r>
          </a:p>
          <a:p>
            <a:pPr marL="476339" lvl="1" indent="-238170" algn="l">
              <a:lnSpc>
                <a:spcPts val="3662"/>
              </a:lnSpc>
              <a:buFont typeface="Arial"/>
              <a:buChar char="•"/>
            </a:pPr>
            <a:r>
              <a:rPr lang="en-US" sz="2206" spc="22">
                <a:solidFill>
                  <a:srgbClr val="000000"/>
                </a:solidFill>
                <a:latin typeface="Times New Roman"/>
                <a:ea typeface="Times New Roman"/>
                <a:cs typeface="Times New Roman"/>
                <a:sym typeface="Times New Roman"/>
              </a:rPr>
              <a:t>MDN Web Docs – Used for learning JavaScript concepts and modern web technologies.</a:t>
            </a:r>
          </a:p>
          <a:p>
            <a:pPr algn="l">
              <a:lnSpc>
                <a:spcPts val="3662"/>
              </a:lnSpc>
            </a:pPr>
            <a:r>
              <a:rPr lang="en-US" sz="2206" spc="22">
                <a:solidFill>
                  <a:srgbClr val="000000"/>
                </a:solidFill>
                <a:latin typeface="Times New Roman"/>
                <a:ea typeface="Times New Roman"/>
                <a:cs typeface="Times New Roman"/>
                <a:sym typeface="Times New Roman"/>
              </a:rPr>
              <a:t>Link: </a:t>
            </a:r>
            <a:r>
              <a:rPr lang="en-US" sz="2206" u="sng" spc="22">
                <a:solidFill>
                  <a:srgbClr val="000000"/>
                </a:solidFill>
                <a:latin typeface="Times New Roman"/>
                <a:ea typeface="Times New Roman"/>
                <a:cs typeface="Times New Roman"/>
                <a:sym typeface="Times New Roman"/>
                <a:hlinkClick r:id="rId8" tooltip="https://developer.mozilla.org/?utm_source=chatgpt.com"/>
              </a:rPr>
              <a:t>https://developer.mozilla.org</a:t>
            </a:r>
          </a:p>
          <a:p>
            <a:pPr marL="476339" lvl="1" indent="-238170" algn="l">
              <a:lnSpc>
                <a:spcPts val="3662"/>
              </a:lnSpc>
              <a:buFont typeface="Arial"/>
              <a:buChar char="•"/>
            </a:pPr>
            <a:r>
              <a:rPr lang="en-US" sz="2206" spc="22">
                <a:solidFill>
                  <a:srgbClr val="000000"/>
                </a:solidFill>
                <a:latin typeface="Times New Roman"/>
                <a:ea typeface="Times New Roman"/>
                <a:cs typeface="Times New Roman"/>
                <a:sym typeface="Times New Roman"/>
              </a:rPr>
              <a:t>W3Schools – Used for understanding frontend and backend development concepts with examples.</a:t>
            </a:r>
          </a:p>
          <a:p>
            <a:pPr algn="l">
              <a:lnSpc>
                <a:spcPts val="3662"/>
              </a:lnSpc>
            </a:pPr>
            <a:r>
              <a:rPr lang="en-US" sz="2206" spc="22">
                <a:solidFill>
                  <a:srgbClr val="000000"/>
                </a:solidFill>
                <a:latin typeface="Times New Roman"/>
                <a:ea typeface="Times New Roman"/>
                <a:cs typeface="Times New Roman"/>
                <a:sym typeface="Times New Roman"/>
              </a:rPr>
              <a:t> Link: </a:t>
            </a:r>
            <a:r>
              <a:rPr lang="en-US" sz="2206" u="sng" spc="22">
                <a:solidFill>
                  <a:srgbClr val="000000"/>
                </a:solidFill>
                <a:latin typeface="Times New Roman"/>
                <a:ea typeface="Times New Roman"/>
                <a:cs typeface="Times New Roman"/>
                <a:sym typeface="Times New Roman"/>
                <a:hlinkClick r:id="rId9" tooltip="https://www.w3schools.com/?utm_source=chatgpt.com"/>
              </a:rPr>
              <a:t>https://www.w3schools.com</a:t>
            </a:r>
          </a:p>
          <a:p>
            <a:pPr marL="476339" lvl="1" indent="-238170" algn="l">
              <a:lnSpc>
                <a:spcPts val="3662"/>
              </a:lnSpc>
              <a:buFont typeface="Arial"/>
              <a:buChar char="•"/>
            </a:pPr>
            <a:r>
              <a:rPr lang="en-US" sz="2206" spc="22">
                <a:solidFill>
                  <a:srgbClr val="000000"/>
                </a:solidFill>
                <a:latin typeface="Times New Roman"/>
                <a:ea typeface="Times New Roman"/>
                <a:cs typeface="Times New Roman"/>
                <a:sym typeface="Times New Roman"/>
              </a:rPr>
              <a:t>Vercel Documentation – Used for frontend deployment and hosting setup.</a:t>
            </a:r>
          </a:p>
          <a:p>
            <a:pPr algn="l">
              <a:lnSpc>
                <a:spcPts val="3662"/>
              </a:lnSpc>
            </a:pPr>
            <a:r>
              <a:rPr lang="en-US" sz="2206" spc="22">
                <a:solidFill>
                  <a:srgbClr val="000000"/>
                </a:solidFill>
                <a:latin typeface="Times New Roman"/>
                <a:ea typeface="Times New Roman"/>
                <a:cs typeface="Times New Roman"/>
                <a:sym typeface="Times New Roman"/>
              </a:rPr>
              <a:t> Link: </a:t>
            </a:r>
            <a:r>
              <a:rPr lang="en-US" sz="2206" u="sng" spc="22">
                <a:solidFill>
                  <a:srgbClr val="000000"/>
                </a:solidFill>
                <a:latin typeface="Times New Roman"/>
                <a:ea typeface="Times New Roman"/>
                <a:cs typeface="Times New Roman"/>
                <a:sym typeface="Times New Roman"/>
                <a:hlinkClick r:id="rId10" tooltip="https://vercel.com/?utm_source=chatgpt.com"/>
              </a:rPr>
              <a:t>https://vercel.com</a:t>
            </a:r>
          </a:p>
          <a:p>
            <a:pPr marL="476339" lvl="1" indent="-238170" algn="l">
              <a:lnSpc>
                <a:spcPts val="3662"/>
              </a:lnSpc>
              <a:buFont typeface="Arial"/>
              <a:buChar char="•"/>
            </a:pPr>
            <a:r>
              <a:rPr lang="en-US" sz="2206" spc="22">
                <a:solidFill>
                  <a:srgbClr val="000000"/>
                </a:solidFill>
                <a:latin typeface="Times New Roman"/>
                <a:ea typeface="Times New Roman"/>
                <a:cs typeface="Times New Roman"/>
                <a:sym typeface="Times New Roman"/>
              </a:rPr>
              <a:t>Render Documentation – Used for backend deployment and server hosting.</a:t>
            </a:r>
          </a:p>
          <a:p>
            <a:pPr algn="l">
              <a:lnSpc>
                <a:spcPts val="3662"/>
              </a:lnSpc>
            </a:pPr>
            <a:r>
              <a:rPr lang="en-US" sz="2206" spc="22">
                <a:solidFill>
                  <a:srgbClr val="000000"/>
                </a:solidFill>
                <a:latin typeface="Times New Roman"/>
                <a:ea typeface="Times New Roman"/>
                <a:cs typeface="Times New Roman"/>
                <a:sym typeface="Times New Roman"/>
              </a:rPr>
              <a:t>Link: </a:t>
            </a:r>
            <a:r>
              <a:rPr lang="en-US" sz="2206" u="sng" spc="22">
                <a:solidFill>
                  <a:srgbClr val="000000"/>
                </a:solidFill>
                <a:latin typeface="Times New Roman"/>
                <a:ea typeface="Times New Roman"/>
                <a:cs typeface="Times New Roman"/>
                <a:sym typeface="Times New Roman"/>
                <a:hlinkClick r:id="rId11" tooltip="https://render.com/?utm_source=chatgpt.com"/>
              </a:rPr>
              <a:t>https://render.com</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7794B6">
                <a:alpha val="100000"/>
              </a:srgbClr>
            </a:gs>
            <a:gs pos="100000">
              <a:srgbClr val="DFFA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981200" y="3260536"/>
            <a:ext cx="13030200" cy="1447512"/>
          </a:xfrm>
          <a:prstGeom prst="rect">
            <a:avLst/>
          </a:prstGeom>
        </p:spPr>
        <p:txBody>
          <a:bodyPr wrap="square" lIns="0" tIns="0" rIns="0" bIns="0" rtlCol="0" anchor="t">
            <a:spAutoFit/>
          </a:bodyPr>
          <a:lstStyle/>
          <a:p>
            <a:pPr algn="ctr">
              <a:lnSpc>
                <a:spcPts val="12319"/>
              </a:lnSpc>
              <a:spcBef>
                <a:spcPct val="0"/>
              </a:spcBef>
            </a:pPr>
            <a:r>
              <a:rPr lang="en-US" sz="8799" b="1" dirty="0">
                <a:solidFill>
                  <a:srgbClr val="000000"/>
                </a:solidFill>
                <a:latin typeface="Times New Roman Bold"/>
                <a:ea typeface="Times New Roman Bold"/>
                <a:cs typeface="Times New Roman Bold"/>
                <a:sym typeface="Times New Roman Bold"/>
              </a:rPr>
              <a:t>THANK YOU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acet">
  <a:themeElements>
    <a:clrScheme name="Custom 6">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C00000"/>
      </a:hlink>
      <a:folHlink>
        <a:srgbClr val="C0000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24</TotalTime>
  <Words>2256</Words>
  <Application>Microsoft Office PowerPoint</Application>
  <PresentationFormat>Custom</PresentationFormat>
  <Paragraphs>278</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Times New Roman Bold</vt:lpstr>
      <vt:lpstr>Arial</vt:lpstr>
      <vt:lpstr>Trebuchet MS</vt:lpstr>
      <vt:lpstr>Wingdings 3</vt:lpstr>
      <vt:lpstr>Times New Roman</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Mindova Learning Application is a modern online learning platform developed using MERN stack technologies including MongoDB, Express.js, React.js, and Node.js. The application provides secure user authentication, responsive UI design, and easy access to</dc:title>
  <cp:lastModifiedBy>Ankitha Acharya</cp:lastModifiedBy>
  <cp:revision>3</cp:revision>
  <dcterms:created xsi:type="dcterms:W3CDTF">2006-08-16T00:00:00Z</dcterms:created>
  <dcterms:modified xsi:type="dcterms:W3CDTF">2026-05-26T09:07:47Z</dcterms:modified>
  <dc:identifier>DAHKfnhXe5g</dc:identifier>
</cp:coreProperties>
</file>